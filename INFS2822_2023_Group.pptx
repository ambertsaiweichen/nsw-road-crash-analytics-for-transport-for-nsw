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CC1A47-35A5-4B64-B876-CCCFC45F1107}">
  <a:tblStyle styleId="{3DCC1A47-35A5-4B64-B876-CCCFC45F110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617751cb2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617751cb2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rgbClr val="2A3990"/>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12f69f35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12f69f35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17751cb2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17751cb2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612f69f35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612f69f35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12f69f35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12f69f35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612f69f35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612f69f35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12f69f356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12f69f35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that we have a bit of </a:t>
            </a:r>
            <a:r>
              <a:rPr lang="en"/>
              <a:t>initial</a:t>
            </a:r>
            <a:r>
              <a:rPr lang="en"/>
              <a:t> </a:t>
            </a:r>
            <a:r>
              <a:rPr lang="en"/>
              <a:t>insights </a:t>
            </a:r>
            <a:r>
              <a:rPr lang="en"/>
              <a:t>, we can now move onto predictive modelling &amp; analysis, and try to </a:t>
            </a:r>
            <a:r>
              <a:rPr lang="en"/>
              <a:t>understand </a:t>
            </a:r>
            <a:r>
              <a:rPr lang="en"/>
              <a:t>which factors most influence crash severity and what the most appropriate models to determine these are.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we first use linear regression on the speed limit and time period, and calculated severity by summing all the fatalities and the severely and moderately injured figure. We can see from the extremely low R squared values of .004 and .005 respectively that these models have very low predictive capabilities and fail to explain the majority of the observed </a:t>
            </a:r>
            <a:r>
              <a:rPr lang="en"/>
              <a:t>variability</a:t>
            </a:r>
            <a:r>
              <a:rPr lang="en"/>
              <a:t> in the crash severity.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see that linear regression is not a </a:t>
            </a:r>
            <a:r>
              <a:rPr lang="en"/>
              <a:t>suitable model for these variables, however we can definitely see that there is a relationship in both graphs.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12f69f35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12f69f35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12f69f356_7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612f69f356_7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9a14499c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9a14499c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612f69f27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612f69f27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612f69f35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612f69f35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614500ea2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614500ea23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612f69f35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612f69f35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17.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2.png"/><Relationship Id="rId7"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smh.com.au/politics/federal/road-deaths-rise-as-every-state-except-nsw-misses-reduction-target-20230512-p5d828.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311700" y="744575"/>
            <a:ext cx="8520600" cy="11523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3200">
                <a:latin typeface="Arial"/>
                <a:ea typeface="Arial"/>
                <a:cs typeface="Arial"/>
                <a:sym typeface="Arial"/>
              </a:rPr>
              <a:t>NSW Road Crash Data Analysis</a:t>
            </a:r>
            <a:endParaRPr sz="6800">
              <a:latin typeface="Arial"/>
              <a:ea typeface="Arial"/>
              <a:cs typeface="Arial"/>
              <a:sym typeface="Arial"/>
            </a:endParaRPr>
          </a:p>
        </p:txBody>
      </p:sp>
      <p:sp>
        <p:nvSpPr>
          <p:cNvPr id="86" name="Google Shape;86;p13"/>
          <p:cNvSpPr txBox="1"/>
          <p:nvPr>
            <p:ph idx="1" type="subTitle"/>
          </p:nvPr>
        </p:nvSpPr>
        <p:spPr>
          <a:xfrm>
            <a:off x="311700" y="3259000"/>
            <a:ext cx="2493300" cy="1523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Arial"/>
                <a:ea typeface="Arial"/>
                <a:cs typeface="Arial"/>
                <a:sym typeface="Arial"/>
              </a:rPr>
              <a:t>Group M13A-G01</a:t>
            </a:r>
            <a:endParaRPr b="1" sz="1200">
              <a:latin typeface="Arial"/>
              <a:ea typeface="Arial"/>
              <a:cs typeface="Arial"/>
              <a:sym typeface="Arial"/>
            </a:endParaRPr>
          </a:p>
          <a:p>
            <a:pPr indent="0" lvl="0" marL="0" rtl="0" algn="l">
              <a:lnSpc>
                <a:spcPct val="100000"/>
              </a:lnSpc>
              <a:spcBef>
                <a:spcPts val="0"/>
              </a:spcBef>
              <a:spcAft>
                <a:spcPts val="0"/>
              </a:spcAft>
              <a:buNone/>
            </a:pPr>
            <a:r>
              <a:t/>
            </a:r>
            <a:endParaRPr b="1" sz="1200">
              <a:latin typeface="Arial"/>
              <a:ea typeface="Arial"/>
              <a:cs typeface="Arial"/>
              <a:sym typeface="Arial"/>
            </a:endParaRPr>
          </a:p>
          <a:p>
            <a:pPr indent="0" lvl="0" marL="0" rtl="0" algn="l">
              <a:lnSpc>
                <a:spcPct val="100000"/>
              </a:lnSpc>
              <a:spcBef>
                <a:spcPts val="0"/>
              </a:spcBef>
              <a:spcAft>
                <a:spcPts val="0"/>
              </a:spcAft>
              <a:buNone/>
            </a:pPr>
            <a:r>
              <a:rPr lang="en" sz="1200">
                <a:latin typeface="Arial"/>
                <a:ea typeface="Arial"/>
                <a:cs typeface="Arial"/>
                <a:sym typeface="Arial"/>
              </a:rPr>
              <a:t>z5310499  Abigail Joesan Johan</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Arial"/>
                <a:ea typeface="Arial"/>
                <a:cs typeface="Arial"/>
                <a:sym typeface="Arial"/>
              </a:rPr>
              <a:t>z5313435 Andrew Li</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Arial"/>
                <a:ea typeface="Arial"/>
                <a:cs typeface="Arial"/>
                <a:sym typeface="Arial"/>
              </a:rPr>
              <a:t>z5488713 Edward Yu</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Arial"/>
                <a:ea typeface="Arial"/>
                <a:cs typeface="Arial"/>
                <a:sym typeface="Arial"/>
              </a:rPr>
              <a:t>z5432399  Wei-Chen Tsai</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Arial"/>
                <a:ea typeface="Arial"/>
                <a:cs typeface="Arial"/>
                <a:sym typeface="Arial"/>
              </a:rPr>
              <a:t>z5419818 Nicole Lou</a:t>
            </a:r>
            <a:endParaRPr sz="1200">
              <a:latin typeface="Arial"/>
              <a:ea typeface="Arial"/>
              <a:cs typeface="Arial"/>
              <a:sym typeface="Arial"/>
            </a:endParaRPr>
          </a:p>
          <a:p>
            <a:pPr indent="0" lvl="0" marL="0" rtl="0" algn="l">
              <a:lnSpc>
                <a:spcPct val="100000"/>
              </a:lnSpc>
              <a:spcBef>
                <a:spcPts val="0"/>
              </a:spcBef>
              <a:spcAft>
                <a:spcPts val="0"/>
              </a:spcAft>
              <a:buNone/>
            </a:pPr>
            <a:r>
              <a:t/>
            </a:r>
            <a:endParaRPr sz="1200">
              <a:latin typeface="Arial"/>
              <a:ea typeface="Arial"/>
              <a:cs typeface="Arial"/>
              <a:sym typeface="Arial"/>
            </a:endParaRPr>
          </a:p>
          <a:p>
            <a:pPr indent="0" lvl="0" marL="0" rtl="0" algn="l">
              <a:lnSpc>
                <a:spcPct val="100000"/>
              </a:lnSpc>
              <a:spcBef>
                <a:spcPts val="0"/>
              </a:spcBef>
              <a:spcAft>
                <a:spcPts val="0"/>
              </a:spcAft>
              <a:buNone/>
            </a:pPr>
            <a:r>
              <a:t/>
            </a:r>
            <a:endParaRPr sz="1200">
              <a:latin typeface="Arial"/>
              <a:ea typeface="Arial"/>
              <a:cs typeface="Arial"/>
              <a:sym typeface="Arial"/>
            </a:endParaRPr>
          </a:p>
        </p:txBody>
      </p:sp>
      <p:sp>
        <p:nvSpPr>
          <p:cNvPr id="87" name="Google Shape;87;p13"/>
          <p:cNvSpPr txBox="1"/>
          <p:nvPr/>
        </p:nvSpPr>
        <p:spPr>
          <a:xfrm>
            <a:off x="311700" y="1696700"/>
            <a:ext cx="30000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500">
                <a:solidFill>
                  <a:schemeClr val="lt1"/>
                </a:solidFill>
              </a:rPr>
              <a:t>(2017 - 2021)</a:t>
            </a:r>
            <a:endParaRPr sz="2500"/>
          </a:p>
        </p:txBody>
      </p:sp>
      <p:pic>
        <p:nvPicPr>
          <p:cNvPr id="88" name="Google Shape;88;p13"/>
          <p:cNvPicPr preferRelativeResize="0"/>
          <p:nvPr/>
        </p:nvPicPr>
        <p:blipFill>
          <a:blip r:embed="rId3">
            <a:alphaModFix/>
          </a:blip>
          <a:stretch>
            <a:fillRect/>
          </a:stretch>
        </p:blipFill>
        <p:spPr>
          <a:xfrm>
            <a:off x="4425775" y="1921825"/>
            <a:ext cx="4288350" cy="2860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0" y="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Project Background &amp; Research Question</a:t>
            </a:r>
            <a:endParaRPr>
              <a:latin typeface="Arial"/>
              <a:ea typeface="Arial"/>
              <a:cs typeface="Arial"/>
              <a:sym typeface="Arial"/>
            </a:endParaRPr>
          </a:p>
        </p:txBody>
      </p:sp>
      <p:sp>
        <p:nvSpPr>
          <p:cNvPr id="94" name="Google Shape;94;p14"/>
          <p:cNvSpPr txBox="1"/>
          <p:nvPr>
            <p:ph idx="1" type="body"/>
          </p:nvPr>
        </p:nvSpPr>
        <p:spPr>
          <a:xfrm>
            <a:off x="103700" y="532150"/>
            <a:ext cx="4672200" cy="292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400" u="sng">
                <a:latin typeface="Arial"/>
                <a:ea typeface="Arial"/>
                <a:cs typeface="Arial"/>
                <a:sym typeface="Arial"/>
              </a:rPr>
              <a:t>Project background</a:t>
            </a:r>
            <a:endParaRPr b="1" sz="1400" u="sng">
              <a:latin typeface="Arial"/>
              <a:ea typeface="Arial"/>
              <a:cs typeface="Arial"/>
              <a:sym typeface="Arial"/>
            </a:endParaRPr>
          </a:p>
          <a:p>
            <a:pPr indent="-317500" lvl="0" marL="457200" rtl="0" algn="l">
              <a:spcBef>
                <a:spcPts val="1200"/>
              </a:spcBef>
              <a:spcAft>
                <a:spcPts val="0"/>
              </a:spcAft>
              <a:buSzPts val="1400"/>
              <a:buFont typeface="Arial"/>
              <a:buChar char="●"/>
            </a:pPr>
            <a:r>
              <a:rPr lang="en" sz="1400">
                <a:latin typeface="Arial"/>
                <a:ea typeface="Arial"/>
                <a:cs typeface="Arial"/>
                <a:sym typeface="Arial"/>
              </a:rPr>
              <a:t>In every state, Australia’s roads have become more deadly in every state and territory </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In the year to Match 31 2023, there were </a:t>
            </a:r>
            <a:r>
              <a:rPr b="1" lang="en" sz="1400">
                <a:solidFill>
                  <a:srgbClr val="FF0000"/>
                </a:solidFill>
                <a:latin typeface="Arial"/>
                <a:ea typeface="Arial"/>
                <a:cs typeface="Arial"/>
                <a:sym typeface="Arial"/>
              </a:rPr>
              <a:t>1204 (5.9% rise)</a:t>
            </a:r>
            <a:r>
              <a:rPr lang="en" sz="1400">
                <a:latin typeface="Arial"/>
                <a:ea typeface="Arial"/>
                <a:cs typeface="Arial"/>
                <a:sym typeface="Arial"/>
              </a:rPr>
              <a:t> in deaths on Australian roads </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Reduction target March 2023: 1011 deaths </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Failure in meeting set reduction targets has led to 193 more deaths than expected nationally </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Conducted to identify and raise awareness of major crash factors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Visualizations will inform Transport for NSW of key trends </a:t>
            </a:r>
            <a:endParaRPr sz="1400">
              <a:latin typeface="Arial"/>
              <a:ea typeface="Arial"/>
              <a:cs typeface="Arial"/>
              <a:sym typeface="Arial"/>
            </a:endParaRPr>
          </a:p>
        </p:txBody>
      </p:sp>
      <p:pic>
        <p:nvPicPr>
          <p:cNvPr id="95" name="Google Shape;95;p14"/>
          <p:cNvPicPr preferRelativeResize="0"/>
          <p:nvPr/>
        </p:nvPicPr>
        <p:blipFill>
          <a:blip r:embed="rId3">
            <a:alphaModFix/>
          </a:blip>
          <a:stretch>
            <a:fillRect/>
          </a:stretch>
        </p:blipFill>
        <p:spPr>
          <a:xfrm>
            <a:off x="4635375" y="607800"/>
            <a:ext cx="2608250" cy="1036925"/>
          </a:xfrm>
          <a:prstGeom prst="rect">
            <a:avLst/>
          </a:prstGeom>
          <a:noFill/>
          <a:ln>
            <a:noFill/>
          </a:ln>
        </p:spPr>
      </p:pic>
      <p:pic>
        <p:nvPicPr>
          <p:cNvPr id="96" name="Google Shape;96;p14"/>
          <p:cNvPicPr preferRelativeResize="0"/>
          <p:nvPr/>
        </p:nvPicPr>
        <p:blipFill>
          <a:blip r:embed="rId4">
            <a:alphaModFix/>
          </a:blip>
          <a:stretch>
            <a:fillRect/>
          </a:stretch>
        </p:blipFill>
        <p:spPr>
          <a:xfrm>
            <a:off x="7119600" y="532162"/>
            <a:ext cx="1948750" cy="1938025"/>
          </a:xfrm>
          <a:prstGeom prst="rect">
            <a:avLst/>
          </a:prstGeom>
          <a:noFill/>
          <a:ln>
            <a:noFill/>
          </a:ln>
        </p:spPr>
      </p:pic>
      <p:sp>
        <p:nvSpPr>
          <p:cNvPr id="97" name="Google Shape;97;p14"/>
          <p:cNvSpPr txBox="1"/>
          <p:nvPr/>
        </p:nvSpPr>
        <p:spPr>
          <a:xfrm>
            <a:off x="4724500" y="1732375"/>
            <a:ext cx="2430000" cy="12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2026 Road Safety Action Plan Goal: </a:t>
            </a:r>
            <a:r>
              <a:rPr b="1" lang="en">
                <a:latin typeface="Roboto"/>
                <a:ea typeface="Roboto"/>
                <a:cs typeface="Roboto"/>
                <a:sym typeface="Roboto"/>
              </a:rPr>
              <a:t>Reduce fatalities on NSW roads to 164 by 2030. </a:t>
            </a:r>
            <a:endParaRPr b="1">
              <a:latin typeface="Roboto"/>
              <a:ea typeface="Roboto"/>
              <a:cs typeface="Roboto"/>
              <a:sym typeface="Roboto"/>
            </a:endParaRPr>
          </a:p>
        </p:txBody>
      </p:sp>
      <p:sp>
        <p:nvSpPr>
          <p:cNvPr id="98" name="Google Shape;98;p14"/>
          <p:cNvSpPr txBox="1"/>
          <p:nvPr/>
        </p:nvSpPr>
        <p:spPr>
          <a:xfrm>
            <a:off x="4709625" y="2857500"/>
            <a:ext cx="4216800" cy="548400"/>
          </a:xfrm>
          <a:prstGeom prst="rect">
            <a:avLst/>
          </a:prstGeom>
          <a:solidFill>
            <a:srgbClr val="EA999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Roboto"/>
                <a:ea typeface="Roboto"/>
                <a:cs typeface="Roboto"/>
                <a:sym typeface="Roboto"/>
              </a:rPr>
              <a:t>If no action is taken now to improve road safety in NSW, it is highly likely this target will not be met. </a:t>
            </a:r>
            <a:endParaRPr b="1" sz="1300">
              <a:latin typeface="Roboto"/>
              <a:ea typeface="Roboto"/>
              <a:cs typeface="Roboto"/>
              <a:sym typeface="Roboto"/>
            </a:endParaRPr>
          </a:p>
        </p:txBody>
      </p:sp>
      <p:sp>
        <p:nvSpPr>
          <p:cNvPr id="99" name="Google Shape;99;p14"/>
          <p:cNvSpPr txBox="1"/>
          <p:nvPr/>
        </p:nvSpPr>
        <p:spPr>
          <a:xfrm>
            <a:off x="189600" y="3405900"/>
            <a:ext cx="8764800" cy="13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solidFill>
                  <a:schemeClr val="dk2"/>
                </a:solidFill>
                <a:latin typeface="Roboto"/>
                <a:ea typeface="Roboto"/>
                <a:cs typeface="Roboto"/>
                <a:sym typeface="Roboto"/>
              </a:rPr>
              <a:t>Why is this project being conducted? </a:t>
            </a:r>
            <a:endParaRPr b="1" sz="1300" u="sng">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To identify key trends in the data in determining </a:t>
            </a:r>
            <a:r>
              <a:rPr b="1" lang="en" sz="1300">
                <a:solidFill>
                  <a:srgbClr val="FF0000"/>
                </a:solidFill>
                <a:latin typeface="Roboto"/>
                <a:ea typeface="Roboto"/>
                <a:cs typeface="Roboto"/>
                <a:sym typeface="Roboto"/>
              </a:rPr>
              <a:t>leading factors causing crashes on NSW roads</a:t>
            </a:r>
            <a:endParaRPr b="1" sz="1300">
              <a:solidFill>
                <a:srgbClr val="FF0000"/>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This will be conducted through data visualisation and predictive modelling </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Key </a:t>
            </a:r>
            <a:r>
              <a:rPr lang="en" sz="1300">
                <a:solidFill>
                  <a:schemeClr val="dk2"/>
                </a:solidFill>
                <a:latin typeface="Roboto"/>
                <a:ea typeface="Roboto"/>
                <a:cs typeface="Roboto"/>
                <a:sym typeface="Roboto"/>
              </a:rPr>
              <a:t>Stakeholders involved: Government, taxpayers and community</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Goal: Provide evidence based recommendations to assist in reducing fatalities and crashes on NSW roads and meet the 2030 target to effectively allocate </a:t>
            </a:r>
            <a:r>
              <a:rPr lang="en" sz="1300" u="sng">
                <a:solidFill>
                  <a:schemeClr val="dk2"/>
                </a:solidFill>
                <a:latin typeface="Roboto"/>
                <a:ea typeface="Roboto"/>
                <a:cs typeface="Roboto"/>
                <a:sym typeface="Roboto"/>
              </a:rPr>
              <a:t>road safety campaign budgeting</a:t>
            </a:r>
            <a:r>
              <a:rPr lang="en" sz="1300">
                <a:solidFill>
                  <a:schemeClr val="dk2"/>
                </a:solidFill>
                <a:latin typeface="Roboto"/>
                <a:ea typeface="Roboto"/>
                <a:cs typeface="Roboto"/>
                <a:sym typeface="Roboto"/>
              </a:rPr>
              <a:t> </a:t>
            </a:r>
            <a:endParaRPr sz="13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0" y="0"/>
            <a:ext cx="3732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Preprocessing</a:t>
            </a:r>
            <a:endParaRPr>
              <a:latin typeface="Arial"/>
              <a:ea typeface="Arial"/>
              <a:cs typeface="Arial"/>
              <a:sym typeface="Arial"/>
            </a:endParaRPr>
          </a:p>
        </p:txBody>
      </p:sp>
      <p:sp>
        <p:nvSpPr>
          <p:cNvPr id="105" name="Google Shape;105;p15"/>
          <p:cNvSpPr txBox="1"/>
          <p:nvPr>
            <p:ph idx="1" type="body"/>
          </p:nvPr>
        </p:nvSpPr>
        <p:spPr>
          <a:xfrm>
            <a:off x="-94550" y="390175"/>
            <a:ext cx="4737000" cy="718200"/>
          </a:xfrm>
          <a:prstGeom prst="rect">
            <a:avLst/>
          </a:prstGeom>
        </p:spPr>
        <p:txBody>
          <a:bodyPr anchorCtr="0" anchor="t" bIns="91425" lIns="91425" spcFirstLastPara="1" rIns="91425" wrap="square" tIns="91425">
            <a:noAutofit/>
          </a:bodyPr>
          <a:lstStyle/>
          <a:p>
            <a:pPr indent="-290512" lvl="0" marL="457200" rtl="0" algn="l">
              <a:spcBef>
                <a:spcPts val="0"/>
              </a:spcBef>
              <a:spcAft>
                <a:spcPts val="0"/>
              </a:spcAft>
              <a:buSzPts val="975"/>
              <a:buFont typeface="Arial"/>
              <a:buChar char="●"/>
            </a:pPr>
            <a:r>
              <a:rPr lang="en" sz="975">
                <a:latin typeface="Arial"/>
                <a:ea typeface="Arial"/>
                <a:cs typeface="Arial"/>
                <a:sym typeface="Arial"/>
              </a:rPr>
              <a:t>Pre-processing is critical to ensure our models are accurate, prevents overfitting and boosts interpretability of the models to extract meaningful trends and analysis</a:t>
            </a:r>
            <a:endParaRPr sz="975">
              <a:latin typeface="Arial"/>
              <a:ea typeface="Arial"/>
              <a:cs typeface="Arial"/>
              <a:sym typeface="Arial"/>
            </a:endParaRPr>
          </a:p>
        </p:txBody>
      </p:sp>
      <p:sp>
        <p:nvSpPr>
          <p:cNvPr id="106" name="Google Shape;106;p15"/>
          <p:cNvSpPr txBox="1"/>
          <p:nvPr/>
        </p:nvSpPr>
        <p:spPr>
          <a:xfrm>
            <a:off x="86100" y="1108325"/>
            <a:ext cx="4737000" cy="36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Cleaning of the dataset </a:t>
            </a:r>
            <a:endParaRPr b="1"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AutoNum type="arabicPeriod"/>
            </a:pPr>
            <a:r>
              <a:rPr lang="en" sz="1200">
                <a:solidFill>
                  <a:schemeClr val="dk2"/>
                </a:solidFill>
                <a:latin typeface="Roboto"/>
                <a:ea typeface="Roboto"/>
                <a:cs typeface="Roboto"/>
                <a:sym typeface="Roboto"/>
              </a:rPr>
              <a:t>Dropping columns or rows that were irrelevant to the specific question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We firstly defined a list containing the names of all columns/rows to drop then use the drop() function</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AutoNum type="arabicPeriod"/>
            </a:pPr>
            <a:r>
              <a:rPr lang="en" sz="1200">
                <a:solidFill>
                  <a:schemeClr val="dk2"/>
                </a:solidFill>
                <a:latin typeface="Roboto"/>
                <a:ea typeface="Roboto"/>
                <a:cs typeface="Roboto"/>
                <a:sym typeface="Roboto"/>
              </a:rPr>
              <a:t>Remove duplicates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Used the function drop_duplicates() to remove duplicates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AutoNum type="arabicPeriod"/>
            </a:pPr>
            <a:r>
              <a:rPr lang="en" sz="1200">
                <a:solidFill>
                  <a:schemeClr val="dk2"/>
                </a:solidFill>
                <a:latin typeface="Roboto"/>
                <a:ea typeface="Roboto"/>
                <a:cs typeface="Roboto"/>
                <a:sym typeface="Roboto"/>
              </a:rPr>
              <a:t>Set the header as the first (0-indexed) row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The function header=1 sets the header as the first row in the dataset, ensuring the column then are with names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This makes it much easier to understand the data as we can refer to columns by meaningful names rather than numerical indices and it also helps generate informative labels for charts and graphs</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AutoNum type="arabicPeriod"/>
            </a:pPr>
            <a:r>
              <a:rPr lang="en" sz="1200">
                <a:solidFill>
                  <a:schemeClr val="dk2"/>
                </a:solidFill>
                <a:latin typeface="Roboto"/>
                <a:ea typeface="Roboto"/>
                <a:cs typeface="Roboto"/>
                <a:sym typeface="Roboto"/>
              </a:rPr>
              <a:t>Rename columns </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Using function rename() </a:t>
            </a:r>
            <a:endParaRPr sz="1200">
              <a:solidFill>
                <a:schemeClr val="dk2"/>
              </a:solidFill>
              <a:latin typeface="Roboto"/>
              <a:ea typeface="Roboto"/>
              <a:cs typeface="Roboto"/>
              <a:sym typeface="Roboto"/>
            </a:endParaRPr>
          </a:p>
        </p:txBody>
      </p:sp>
      <p:sp>
        <p:nvSpPr>
          <p:cNvPr id="107" name="Google Shape;107;p15"/>
          <p:cNvSpPr txBox="1"/>
          <p:nvPr/>
        </p:nvSpPr>
        <p:spPr>
          <a:xfrm>
            <a:off x="4767550" y="-69575"/>
            <a:ext cx="4281900" cy="343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5. </a:t>
            </a:r>
            <a:r>
              <a:rPr lang="en" sz="1100">
                <a:solidFill>
                  <a:schemeClr val="dk2"/>
                </a:solidFill>
                <a:latin typeface="Roboto"/>
                <a:ea typeface="Roboto"/>
                <a:cs typeface="Roboto"/>
                <a:sym typeface="Roboto"/>
              </a:rPr>
              <a:t>Data type conversion </a:t>
            </a:r>
            <a:endParaRPr sz="1100">
              <a:solidFill>
                <a:schemeClr val="dk2"/>
              </a:solidFill>
              <a:latin typeface="Roboto"/>
              <a:ea typeface="Roboto"/>
              <a:cs typeface="Roboto"/>
              <a:sym typeface="Roboto"/>
            </a:endParaRPr>
          </a:p>
          <a:p>
            <a:pPr indent="-298450" lvl="0" marL="457200" rtl="0" algn="l">
              <a:lnSpc>
                <a:spcPct val="115000"/>
              </a:lnSpc>
              <a:spcBef>
                <a:spcPts val="1200"/>
              </a:spcBef>
              <a:spcAft>
                <a:spcPts val="0"/>
              </a:spcAft>
              <a:buClr>
                <a:schemeClr val="dk2"/>
              </a:buClr>
              <a:buSzPts val="1100"/>
              <a:buFont typeface="Roboto"/>
              <a:buChar char="●"/>
            </a:pPr>
            <a:r>
              <a:rPr lang="en" sz="1100"/>
              <a:t>To ensure all columns have the correct data type, we convert data by using these functions: .to_datetime / .to_string / .to_numeric</a:t>
            </a:r>
            <a:endParaRPr sz="1100"/>
          </a:p>
          <a:p>
            <a:pPr indent="-298450" lvl="0" marL="457200" rtl="0" algn="l">
              <a:lnSpc>
                <a:spcPct val="115000"/>
              </a:lnSpc>
              <a:spcBef>
                <a:spcPts val="0"/>
              </a:spcBef>
              <a:spcAft>
                <a:spcPts val="0"/>
              </a:spcAft>
              <a:buSzPts val="1100"/>
              <a:buChar char="●"/>
            </a:pPr>
            <a:r>
              <a:rPr lang="en" sz="1100"/>
              <a:t>Using the correct data types ensures that the data stored in each columns is in the expected format, preventing data corruption or inconsistencies </a:t>
            </a:r>
            <a:endParaRPr sz="1100"/>
          </a:p>
          <a:p>
            <a:pPr indent="0" lvl="0" marL="0" rtl="0" algn="l">
              <a:spcBef>
                <a:spcPts val="1200"/>
              </a:spcBef>
              <a:spcAft>
                <a:spcPts val="0"/>
              </a:spcAft>
              <a:buNone/>
            </a:pPr>
            <a:r>
              <a:rPr b="1" lang="en" sz="1100">
                <a:solidFill>
                  <a:schemeClr val="dk2"/>
                </a:solidFill>
                <a:latin typeface="Roboto"/>
                <a:ea typeface="Roboto"/>
                <a:cs typeface="Roboto"/>
                <a:sym typeface="Roboto"/>
              </a:rPr>
              <a:t>Dealing with missing values </a:t>
            </a:r>
            <a:endParaRPr b="1" sz="1100">
              <a:solidFill>
                <a:schemeClr val="dk2"/>
              </a:solidFill>
              <a:latin typeface="Roboto"/>
              <a:ea typeface="Roboto"/>
              <a:cs typeface="Roboto"/>
              <a:sym typeface="Roboto"/>
            </a:endParaRPr>
          </a:p>
          <a:p>
            <a:pPr indent="-298450" lvl="0" marL="457200" rtl="0" algn="l">
              <a:lnSpc>
                <a:spcPct val="115000"/>
              </a:lnSpc>
              <a:spcBef>
                <a:spcPts val="0"/>
              </a:spcBef>
              <a:spcAft>
                <a:spcPts val="0"/>
              </a:spcAft>
              <a:buSzPts val="1100"/>
              <a:buFont typeface="Roboto"/>
              <a:buChar char="●"/>
            </a:pPr>
            <a:r>
              <a:rPr lang="en" sz="1100"/>
              <a:t>The function .dropna() retains the records that have no missing values. </a:t>
            </a:r>
            <a:endParaRPr sz="1100"/>
          </a:p>
          <a:p>
            <a:pPr indent="-298450" lvl="0" marL="457200" rtl="0" algn="l">
              <a:lnSpc>
                <a:spcPct val="115000"/>
              </a:lnSpc>
              <a:spcBef>
                <a:spcPts val="0"/>
              </a:spcBef>
              <a:spcAft>
                <a:spcPts val="0"/>
              </a:spcAft>
              <a:buSzPts val="1100"/>
              <a:buFont typeface="Roboto"/>
              <a:buChar char="●"/>
            </a:pPr>
            <a:r>
              <a:rPr lang="en" sz="1100"/>
              <a:t>Use the mean value to replace the missing values by using function .fillna(df.mean() in case the data distribution is symmetric. </a:t>
            </a:r>
            <a:endParaRPr sz="1100"/>
          </a:p>
          <a:p>
            <a:pPr indent="-298450" lvl="0" marL="457200" rtl="0" algn="l">
              <a:lnSpc>
                <a:spcPct val="115000"/>
              </a:lnSpc>
              <a:spcBef>
                <a:spcPts val="0"/>
              </a:spcBef>
              <a:spcAft>
                <a:spcPts val="0"/>
              </a:spcAft>
              <a:buSzPts val="1100"/>
              <a:buFont typeface="Roboto"/>
              <a:buChar char="●"/>
            </a:pPr>
            <a:r>
              <a:rPr lang="en" sz="1100"/>
              <a:t>Use the most probable value to replace missing values as example: most_probable_value = 0, df.fillna(0).</a:t>
            </a:r>
            <a:endParaRPr sz="1100"/>
          </a:p>
          <a:p>
            <a:pPr indent="-298450" lvl="0" marL="457200" rtl="0" algn="l">
              <a:lnSpc>
                <a:spcPct val="115000"/>
              </a:lnSpc>
              <a:spcBef>
                <a:spcPts val="0"/>
              </a:spcBef>
              <a:spcAft>
                <a:spcPts val="0"/>
              </a:spcAft>
              <a:buSzPts val="1100"/>
              <a:buChar char="●"/>
            </a:pPr>
            <a:r>
              <a:rPr lang="en" sz="1100"/>
              <a:t>For the decision tree classification, SimpleImputer was used to fill missing values in both the Numerical and Categorical columns using the Mean and the Most Frequent strategy respectively. </a:t>
            </a:r>
            <a:endParaRPr sz="11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1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rPr lang="en" sz="1200">
                <a:solidFill>
                  <a:schemeClr val="dk2"/>
                </a:solidFill>
                <a:latin typeface="Roboto"/>
                <a:ea typeface="Roboto"/>
                <a:cs typeface="Roboto"/>
                <a:sym typeface="Roboto"/>
              </a:rPr>
              <a:t>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a:ea typeface="Roboto"/>
              <a:cs typeface="Roboto"/>
              <a:sym typeface="Roboto"/>
            </a:endParaRPr>
          </a:p>
        </p:txBody>
      </p:sp>
      <p:sp>
        <p:nvSpPr>
          <p:cNvPr id="108" name="Google Shape;108;p15"/>
          <p:cNvSpPr txBox="1"/>
          <p:nvPr/>
        </p:nvSpPr>
        <p:spPr>
          <a:xfrm>
            <a:off x="4767550" y="4084425"/>
            <a:ext cx="3999600" cy="1163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09" name="Google Shape;109;p15"/>
          <p:cNvSpPr txBox="1"/>
          <p:nvPr/>
        </p:nvSpPr>
        <p:spPr>
          <a:xfrm>
            <a:off x="5144400" y="3945225"/>
            <a:ext cx="3999600" cy="1096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0" name="Google Shape;110;p15"/>
          <p:cNvSpPr txBox="1"/>
          <p:nvPr/>
        </p:nvSpPr>
        <p:spPr>
          <a:xfrm>
            <a:off x="4947425" y="3945225"/>
            <a:ext cx="3999600" cy="130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latin typeface="Roboto"/>
                <a:ea typeface="Roboto"/>
                <a:cs typeface="Roboto"/>
                <a:sym typeface="Roboto"/>
              </a:rPr>
              <a:t>Dealing with invalid values</a:t>
            </a:r>
            <a:endParaRPr b="1" sz="1100">
              <a:solidFill>
                <a:schemeClr val="dk2"/>
              </a:solidFill>
              <a:latin typeface="Roboto"/>
              <a:ea typeface="Roboto"/>
              <a:cs typeface="Roboto"/>
              <a:sym typeface="Roboto"/>
            </a:endParaRPr>
          </a:p>
          <a:p>
            <a:pPr indent="-298450" lvl="0" marL="457200" rtl="0" algn="l">
              <a:lnSpc>
                <a:spcPct val="115000"/>
              </a:lnSpc>
              <a:spcBef>
                <a:spcPts val="0"/>
              </a:spcBef>
              <a:spcAft>
                <a:spcPts val="0"/>
              </a:spcAft>
              <a:buSzPts val="1100"/>
              <a:buChar char="●"/>
            </a:pPr>
            <a:r>
              <a:rPr lang="en" sz="1100"/>
              <a:t>If invalid values are few and do not significantly impact the analysis, we can use function .drop() to remove invalid values.</a:t>
            </a:r>
            <a:endParaRPr sz="1100"/>
          </a:p>
          <a:p>
            <a:pPr indent="-298450" lvl="0" marL="457200" rtl="0" algn="l">
              <a:lnSpc>
                <a:spcPct val="115000"/>
              </a:lnSpc>
              <a:spcBef>
                <a:spcPts val="0"/>
              </a:spcBef>
              <a:spcAft>
                <a:spcPts val="0"/>
              </a:spcAft>
              <a:buSzPts val="1100"/>
              <a:buChar char="●"/>
            </a:pPr>
            <a:r>
              <a:rPr lang="en" sz="1100"/>
              <a:t>Transform the invalid values to make them valuable by using function .log().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0" y="0"/>
            <a:ext cx="3732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Initial Data Insights</a:t>
            </a:r>
            <a:endParaRPr>
              <a:latin typeface="Arial"/>
              <a:ea typeface="Arial"/>
              <a:cs typeface="Arial"/>
              <a:sym typeface="Arial"/>
            </a:endParaRPr>
          </a:p>
        </p:txBody>
      </p:sp>
      <p:sp>
        <p:nvSpPr>
          <p:cNvPr id="116" name="Google Shape;116;p16"/>
          <p:cNvSpPr txBox="1"/>
          <p:nvPr>
            <p:ph idx="1" type="body"/>
          </p:nvPr>
        </p:nvSpPr>
        <p:spPr>
          <a:xfrm>
            <a:off x="0" y="535600"/>
            <a:ext cx="3500700" cy="1084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Quick understanding of dataset before predictive modelling process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i="1" lang="en" sz="1400">
                <a:latin typeface="Arial"/>
                <a:ea typeface="Arial"/>
                <a:cs typeface="Arial"/>
                <a:sym typeface="Arial"/>
              </a:rPr>
              <a:t>Who, What, Where, When &amp; Why</a:t>
            </a:r>
            <a:endParaRPr i="1" sz="1400">
              <a:latin typeface="Arial"/>
              <a:ea typeface="Arial"/>
              <a:cs typeface="Arial"/>
              <a:sym typeface="Arial"/>
            </a:endParaRPr>
          </a:p>
        </p:txBody>
      </p:sp>
      <p:sp>
        <p:nvSpPr>
          <p:cNvPr id="117" name="Google Shape;117;p16"/>
          <p:cNvSpPr txBox="1"/>
          <p:nvPr>
            <p:ph type="title"/>
          </p:nvPr>
        </p:nvSpPr>
        <p:spPr>
          <a:xfrm>
            <a:off x="113650" y="2033550"/>
            <a:ext cx="2702400" cy="5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n" sz="1910">
                <a:latin typeface="Arial"/>
                <a:ea typeface="Arial"/>
                <a:cs typeface="Arial"/>
                <a:sym typeface="Arial"/>
              </a:rPr>
              <a:t>What </a:t>
            </a:r>
            <a:r>
              <a:rPr lang="en" sz="1910">
                <a:latin typeface="Arial"/>
                <a:ea typeface="Arial"/>
                <a:cs typeface="Arial"/>
                <a:sym typeface="Arial"/>
              </a:rPr>
              <a:t>is occurring?</a:t>
            </a:r>
            <a:endParaRPr sz="1910">
              <a:latin typeface="Arial"/>
              <a:ea typeface="Arial"/>
              <a:cs typeface="Arial"/>
              <a:sym typeface="Arial"/>
            </a:endParaRPr>
          </a:p>
        </p:txBody>
      </p:sp>
      <p:pic>
        <p:nvPicPr>
          <p:cNvPr id="118" name="Google Shape;118;p16"/>
          <p:cNvPicPr preferRelativeResize="0"/>
          <p:nvPr/>
        </p:nvPicPr>
        <p:blipFill>
          <a:blip r:embed="rId3">
            <a:alphaModFix/>
          </a:blip>
          <a:stretch>
            <a:fillRect/>
          </a:stretch>
        </p:blipFill>
        <p:spPr>
          <a:xfrm>
            <a:off x="3987125" y="1259825"/>
            <a:ext cx="5052151" cy="2528396"/>
          </a:xfrm>
          <a:prstGeom prst="rect">
            <a:avLst/>
          </a:prstGeom>
          <a:noFill/>
          <a:ln>
            <a:noFill/>
          </a:ln>
        </p:spPr>
      </p:pic>
      <p:sp>
        <p:nvSpPr>
          <p:cNvPr id="119" name="Google Shape;119;p16"/>
          <p:cNvSpPr txBox="1"/>
          <p:nvPr>
            <p:ph idx="1" type="body"/>
          </p:nvPr>
        </p:nvSpPr>
        <p:spPr>
          <a:xfrm>
            <a:off x="195600" y="2715250"/>
            <a:ext cx="3537000" cy="1789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Decrease in both Fatalities + Injuries</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30% decrease in fatalities</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33% decrease in injuries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However, consider 2020-2021:</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COVID restrictions meant less travel   </a:t>
            </a:r>
            <a:endParaRPr sz="14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311700" y="410000"/>
            <a:ext cx="33417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Initial Data Insights</a:t>
            </a:r>
            <a:endParaRPr>
              <a:latin typeface="Arial"/>
              <a:ea typeface="Arial"/>
              <a:cs typeface="Arial"/>
              <a:sym typeface="Arial"/>
            </a:endParaRPr>
          </a:p>
        </p:txBody>
      </p:sp>
      <p:pic>
        <p:nvPicPr>
          <p:cNvPr id="125" name="Google Shape;125;p17"/>
          <p:cNvPicPr preferRelativeResize="0"/>
          <p:nvPr/>
        </p:nvPicPr>
        <p:blipFill>
          <a:blip r:embed="rId3">
            <a:alphaModFix/>
          </a:blip>
          <a:stretch>
            <a:fillRect/>
          </a:stretch>
        </p:blipFill>
        <p:spPr>
          <a:xfrm>
            <a:off x="4154000" y="116550"/>
            <a:ext cx="4876626" cy="2399233"/>
          </a:xfrm>
          <a:prstGeom prst="rect">
            <a:avLst/>
          </a:prstGeom>
          <a:noFill/>
          <a:ln>
            <a:noFill/>
          </a:ln>
        </p:spPr>
      </p:pic>
      <p:pic>
        <p:nvPicPr>
          <p:cNvPr id="126" name="Google Shape;126;p17"/>
          <p:cNvPicPr preferRelativeResize="0"/>
          <p:nvPr/>
        </p:nvPicPr>
        <p:blipFill>
          <a:blip r:embed="rId4">
            <a:alphaModFix/>
          </a:blip>
          <a:stretch>
            <a:fillRect/>
          </a:stretch>
        </p:blipFill>
        <p:spPr>
          <a:xfrm>
            <a:off x="3782823" y="2646438"/>
            <a:ext cx="5275026" cy="2326075"/>
          </a:xfrm>
          <a:prstGeom prst="rect">
            <a:avLst/>
          </a:prstGeom>
          <a:noFill/>
          <a:ln>
            <a:noFill/>
          </a:ln>
        </p:spPr>
      </p:pic>
      <p:sp>
        <p:nvSpPr>
          <p:cNvPr id="127" name="Google Shape;127;p17"/>
          <p:cNvSpPr txBox="1"/>
          <p:nvPr>
            <p:ph idx="1" type="body"/>
          </p:nvPr>
        </p:nvSpPr>
        <p:spPr>
          <a:xfrm>
            <a:off x="311700" y="1410700"/>
            <a:ext cx="3500700" cy="1672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Suburbs : Mainly Western </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Bankstown, Liverpool, Blacktown, etc.</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Roads : Highways &amp; Expressways</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Hume Highway </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Western Expressway</a:t>
            </a:r>
            <a:endParaRPr>
              <a:latin typeface="Arial"/>
              <a:ea typeface="Arial"/>
              <a:cs typeface="Arial"/>
              <a:sym typeface="Arial"/>
            </a:endParaRPr>
          </a:p>
        </p:txBody>
      </p:sp>
      <p:sp>
        <p:nvSpPr>
          <p:cNvPr id="128" name="Google Shape;128;p17"/>
          <p:cNvSpPr txBox="1"/>
          <p:nvPr>
            <p:ph type="title"/>
          </p:nvPr>
        </p:nvSpPr>
        <p:spPr>
          <a:xfrm>
            <a:off x="311700" y="933750"/>
            <a:ext cx="4228500" cy="5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900">
                <a:latin typeface="Arial"/>
                <a:ea typeface="Arial"/>
                <a:cs typeface="Arial"/>
                <a:sym typeface="Arial"/>
              </a:rPr>
              <a:t>Where </a:t>
            </a:r>
            <a:r>
              <a:rPr lang="en" sz="1900">
                <a:latin typeface="Arial"/>
                <a:ea typeface="Arial"/>
                <a:cs typeface="Arial"/>
                <a:sym typeface="Arial"/>
              </a:rPr>
              <a:t>are accidents occurring?</a:t>
            </a:r>
            <a:endParaRPr sz="191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311700" y="410000"/>
            <a:ext cx="41103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Initial Data Insights</a:t>
            </a:r>
            <a:endParaRPr>
              <a:latin typeface="Arial"/>
              <a:ea typeface="Arial"/>
              <a:cs typeface="Arial"/>
              <a:sym typeface="Arial"/>
            </a:endParaRPr>
          </a:p>
        </p:txBody>
      </p:sp>
      <p:pic>
        <p:nvPicPr>
          <p:cNvPr id="134" name="Google Shape;134;p18"/>
          <p:cNvPicPr preferRelativeResize="0"/>
          <p:nvPr/>
        </p:nvPicPr>
        <p:blipFill>
          <a:blip r:embed="rId3">
            <a:alphaModFix/>
          </a:blip>
          <a:stretch>
            <a:fillRect/>
          </a:stretch>
        </p:blipFill>
        <p:spPr>
          <a:xfrm>
            <a:off x="4240700" y="933750"/>
            <a:ext cx="4809551" cy="2897325"/>
          </a:xfrm>
          <a:prstGeom prst="rect">
            <a:avLst/>
          </a:prstGeom>
          <a:noFill/>
          <a:ln>
            <a:noFill/>
          </a:ln>
        </p:spPr>
      </p:pic>
      <p:sp>
        <p:nvSpPr>
          <p:cNvPr id="135" name="Google Shape;135;p18"/>
          <p:cNvSpPr txBox="1"/>
          <p:nvPr>
            <p:ph idx="1" type="body"/>
          </p:nvPr>
        </p:nvSpPr>
        <p:spPr>
          <a:xfrm>
            <a:off x="311700" y="1347425"/>
            <a:ext cx="3684900" cy="1936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Fluctuates every month, but can see </a:t>
            </a:r>
            <a:r>
              <a:rPr lang="en" sz="1400">
                <a:latin typeface="Arial"/>
                <a:ea typeface="Arial"/>
                <a:cs typeface="Arial"/>
                <a:sym typeface="Arial"/>
              </a:rPr>
              <a:t>similar</a:t>
            </a:r>
            <a:r>
              <a:rPr lang="en" sz="1400">
                <a:latin typeface="Arial"/>
                <a:ea typeface="Arial"/>
                <a:cs typeface="Arial"/>
                <a:sym typeface="Arial"/>
              </a:rPr>
              <a:t> peaks &amp; troughs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Months where most fatalities occurred:</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August, January, December</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Peak holiday periods</a:t>
            </a:r>
            <a:endParaRPr>
              <a:latin typeface="Arial"/>
              <a:ea typeface="Arial"/>
              <a:cs typeface="Arial"/>
              <a:sym typeface="Arial"/>
            </a:endParaRPr>
          </a:p>
        </p:txBody>
      </p:sp>
      <p:pic>
        <p:nvPicPr>
          <p:cNvPr id="136" name="Google Shape;136;p18"/>
          <p:cNvPicPr preferRelativeResize="0"/>
          <p:nvPr/>
        </p:nvPicPr>
        <p:blipFill>
          <a:blip r:embed="rId4">
            <a:alphaModFix/>
          </a:blip>
          <a:stretch>
            <a:fillRect/>
          </a:stretch>
        </p:blipFill>
        <p:spPr>
          <a:xfrm>
            <a:off x="1733012" y="2848550"/>
            <a:ext cx="1267675" cy="1871625"/>
          </a:xfrm>
          <a:prstGeom prst="rect">
            <a:avLst/>
          </a:prstGeom>
          <a:noFill/>
          <a:ln>
            <a:noFill/>
          </a:ln>
        </p:spPr>
      </p:pic>
      <p:sp>
        <p:nvSpPr>
          <p:cNvPr id="137" name="Google Shape;137;p18"/>
          <p:cNvSpPr txBox="1"/>
          <p:nvPr>
            <p:ph type="title"/>
          </p:nvPr>
        </p:nvSpPr>
        <p:spPr>
          <a:xfrm>
            <a:off x="311700" y="933750"/>
            <a:ext cx="4228500" cy="5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n" sz="1910">
                <a:latin typeface="Arial"/>
                <a:ea typeface="Arial"/>
                <a:cs typeface="Arial"/>
                <a:sym typeface="Arial"/>
              </a:rPr>
              <a:t>When </a:t>
            </a:r>
            <a:r>
              <a:rPr lang="en" sz="1910">
                <a:latin typeface="Arial"/>
                <a:ea typeface="Arial"/>
                <a:cs typeface="Arial"/>
                <a:sym typeface="Arial"/>
              </a:rPr>
              <a:t>are fatal accidents occurring?</a:t>
            </a:r>
            <a:endParaRPr sz="191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Initial Data Insights</a:t>
            </a:r>
            <a:endParaRPr>
              <a:latin typeface="Arial"/>
              <a:ea typeface="Arial"/>
              <a:cs typeface="Arial"/>
              <a:sym typeface="Arial"/>
            </a:endParaRPr>
          </a:p>
        </p:txBody>
      </p:sp>
      <p:sp>
        <p:nvSpPr>
          <p:cNvPr id="143" name="Google Shape;143;p19"/>
          <p:cNvSpPr txBox="1"/>
          <p:nvPr>
            <p:ph type="title"/>
          </p:nvPr>
        </p:nvSpPr>
        <p:spPr>
          <a:xfrm>
            <a:off x="311700" y="933750"/>
            <a:ext cx="4228500" cy="5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n" sz="1910">
                <a:latin typeface="Arial"/>
                <a:ea typeface="Arial"/>
                <a:cs typeface="Arial"/>
                <a:sym typeface="Arial"/>
              </a:rPr>
              <a:t>Why </a:t>
            </a:r>
            <a:r>
              <a:rPr lang="en" sz="1910">
                <a:latin typeface="Arial"/>
                <a:ea typeface="Arial"/>
                <a:cs typeface="Arial"/>
                <a:sym typeface="Arial"/>
              </a:rPr>
              <a:t>are accidents occurring?</a:t>
            </a:r>
            <a:endParaRPr sz="1910">
              <a:latin typeface="Arial"/>
              <a:ea typeface="Arial"/>
              <a:cs typeface="Arial"/>
              <a:sym typeface="Arial"/>
            </a:endParaRPr>
          </a:p>
        </p:txBody>
      </p:sp>
      <p:pic>
        <p:nvPicPr>
          <p:cNvPr id="144" name="Google Shape;144;p19"/>
          <p:cNvPicPr preferRelativeResize="0"/>
          <p:nvPr/>
        </p:nvPicPr>
        <p:blipFill>
          <a:blip r:embed="rId3">
            <a:alphaModFix/>
          </a:blip>
          <a:stretch>
            <a:fillRect/>
          </a:stretch>
        </p:blipFill>
        <p:spPr>
          <a:xfrm>
            <a:off x="5268563" y="0"/>
            <a:ext cx="2492165" cy="2253150"/>
          </a:xfrm>
          <a:prstGeom prst="rect">
            <a:avLst/>
          </a:prstGeom>
          <a:noFill/>
          <a:ln>
            <a:noFill/>
          </a:ln>
        </p:spPr>
      </p:pic>
      <p:pic>
        <p:nvPicPr>
          <p:cNvPr id="145" name="Google Shape;145;p19"/>
          <p:cNvPicPr preferRelativeResize="0"/>
          <p:nvPr/>
        </p:nvPicPr>
        <p:blipFill>
          <a:blip r:embed="rId4">
            <a:alphaModFix/>
          </a:blip>
          <a:stretch>
            <a:fillRect/>
          </a:stretch>
        </p:blipFill>
        <p:spPr>
          <a:xfrm>
            <a:off x="4045875" y="2299624"/>
            <a:ext cx="4937550" cy="2769050"/>
          </a:xfrm>
          <a:prstGeom prst="rect">
            <a:avLst/>
          </a:prstGeom>
          <a:noFill/>
          <a:ln>
            <a:noFill/>
          </a:ln>
        </p:spPr>
      </p:pic>
      <p:sp>
        <p:nvSpPr>
          <p:cNvPr id="146" name="Google Shape;146;p19"/>
          <p:cNvSpPr txBox="1"/>
          <p:nvPr>
            <p:ph idx="1" type="body"/>
          </p:nvPr>
        </p:nvSpPr>
        <p:spPr>
          <a:xfrm>
            <a:off x="311700" y="1347425"/>
            <a:ext cx="3614100" cy="768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Possibly Weather and Speed Limit factors.</a:t>
            </a:r>
            <a:endParaRPr sz="1400">
              <a:latin typeface="Arial"/>
              <a:ea typeface="Arial"/>
              <a:cs typeface="Arial"/>
              <a:sym typeface="Arial"/>
            </a:endParaRPr>
          </a:p>
        </p:txBody>
      </p:sp>
      <p:sp>
        <p:nvSpPr>
          <p:cNvPr id="147" name="Google Shape;147;p19"/>
          <p:cNvSpPr txBox="1"/>
          <p:nvPr>
            <p:ph idx="1" type="body"/>
          </p:nvPr>
        </p:nvSpPr>
        <p:spPr>
          <a:xfrm>
            <a:off x="311700" y="2116025"/>
            <a:ext cx="3614100" cy="10398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Weather : </a:t>
            </a:r>
            <a:r>
              <a:rPr lang="en" sz="1400">
                <a:latin typeface="Arial"/>
                <a:ea typeface="Arial"/>
                <a:cs typeface="Arial"/>
                <a:sym typeface="Arial"/>
              </a:rPr>
              <a:t>Majority fatalities during Fine weather </a:t>
            </a:r>
            <a:r>
              <a:rPr lang="en" sz="1400">
                <a:latin typeface="Arial"/>
                <a:ea typeface="Arial"/>
                <a:cs typeface="Arial"/>
                <a:sym typeface="Arial"/>
              </a:rPr>
              <a:t> </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Fine weather conditions encourages travel </a:t>
            </a:r>
            <a:endParaRPr sz="1400">
              <a:latin typeface="Arial"/>
              <a:ea typeface="Arial"/>
              <a:cs typeface="Arial"/>
              <a:sym typeface="Arial"/>
            </a:endParaRPr>
          </a:p>
        </p:txBody>
      </p:sp>
      <p:sp>
        <p:nvSpPr>
          <p:cNvPr id="148" name="Google Shape;148;p19"/>
          <p:cNvSpPr txBox="1"/>
          <p:nvPr>
            <p:ph idx="1" type="body"/>
          </p:nvPr>
        </p:nvSpPr>
        <p:spPr>
          <a:xfrm>
            <a:off x="311700" y="3237450"/>
            <a:ext cx="3614100" cy="15318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Speed Limit: Mo</a:t>
            </a:r>
            <a:r>
              <a:rPr lang="en" sz="1400">
                <a:latin typeface="Arial"/>
                <a:ea typeface="Arial"/>
                <a:cs typeface="Arial"/>
                <a:sym typeface="Arial"/>
              </a:rPr>
              <a:t>st accidents in 50-60km/hr</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Most common speed limit </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Higher speeds increases fatalities </a:t>
            </a:r>
            <a:endParaRPr>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Data Modelling &amp; Analysis</a:t>
            </a:r>
            <a:endParaRPr>
              <a:latin typeface="Arial"/>
              <a:ea typeface="Arial"/>
              <a:cs typeface="Arial"/>
              <a:sym typeface="Arial"/>
            </a:endParaRPr>
          </a:p>
        </p:txBody>
      </p:sp>
      <p:pic>
        <p:nvPicPr>
          <p:cNvPr id="154" name="Google Shape;154;p20"/>
          <p:cNvPicPr preferRelativeResize="0"/>
          <p:nvPr/>
        </p:nvPicPr>
        <p:blipFill>
          <a:blip r:embed="rId3">
            <a:alphaModFix/>
          </a:blip>
          <a:stretch>
            <a:fillRect/>
          </a:stretch>
        </p:blipFill>
        <p:spPr>
          <a:xfrm>
            <a:off x="4878131" y="2571750"/>
            <a:ext cx="3985695" cy="2456300"/>
          </a:xfrm>
          <a:prstGeom prst="rect">
            <a:avLst/>
          </a:prstGeom>
          <a:noFill/>
          <a:ln>
            <a:noFill/>
          </a:ln>
        </p:spPr>
      </p:pic>
      <p:pic>
        <p:nvPicPr>
          <p:cNvPr id="155" name="Google Shape;155;p20"/>
          <p:cNvPicPr preferRelativeResize="0"/>
          <p:nvPr/>
        </p:nvPicPr>
        <p:blipFill>
          <a:blip r:embed="rId4">
            <a:alphaModFix/>
          </a:blip>
          <a:stretch>
            <a:fillRect/>
          </a:stretch>
        </p:blipFill>
        <p:spPr>
          <a:xfrm>
            <a:off x="5312900" y="103225"/>
            <a:ext cx="3116150" cy="2397725"/>
          </a:xfrm>
          <a:prstGeom prst="rect">
            <a:avLst/>
          </a:prstGeom>
          <a:noFill/>
          <a:ln>
            <a:noFill/>
          </a:ln>
        </p:spPr>
      </p:pic>
      <p:sp>
        <p:nvSpPr>
          <p:cNvPr id="156" name="Google Shape;156;p20"/>
          <p:cNvSpPr txBox="1"/>
          <p:nvPr>
            <p:ph idx="1" type="body"/>
          </p:nvPr>
        </p:nvSpPr>
        <p:spPr>
          <a:xfrm>
            <a:off x="311700" y="1124950"/>
            <a:ext cx="4185600" cy="970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Move onto Predictive Modelling &amp; </a:t>
            </a:r>
            <a:r>
              <a:rPr lang="en" sz="1400">
                <a:latin typeface="Arial"/>
                <a:ea typeface="Arial"/>
                <a:cs typeface="Arial"/>
                <a:sym typeface="Arial"/>
              </a:rPr>
              <a:t>Analysis</a:t>
            </a:r>
            <a:r>
              <a:rPr lang="en" sz="1400">
                <a:latin typeface="Arial"/>
                <a:ea typeface="Arial"/>
                <a:cs typeface="Arial"/>
                <a:sym typeface="Arial"/>
              </a:rPr>
              <a:t> </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Which factors most influence crash severity &amp; what are the most appropriate models?</a:t>
            </a:r>
            <a:endParaRPr sz="1400">
              <a:latin typeface="Arial"/>
              <a:ea typeface="Arial"/>
              <a:cs typeface="Arial"/>
              <a:sym typeface="Arial"/>
            </a:endParaRPr>
          </a:p>
        </p:txBody>
      </p:sp>
      <p:sp>
        <p:nvSpPr>
          <p:cNvPr id="157" name="Google Shape;157;p20"/>
          <p:cNvSpPr txBox="1"/>
          <p:nvPr>
            <p:ph type="title"/>
          </p:nvPr>
        </p:nvSpPr>
        <p:spPr>
          <a:xfrm>
            <a:off x="311700" y="2202600"/>
            <a:ext cx="4437300" cy="53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10">
                <a:latin typeface="Arial"/>
                <a:ea typeface="Arial"/>
                <a:cs typeface="Arial"/>
                <a:sym typeface="Arial"/>
              </a:rPr>
              <a:t>Linear Regression (Speed &amp; Time)</a:t>
            </a:r>
            <a:endParaRPr sz="1910">
              <a:latin typeface="Arial"/>
              <a:ea typeface="Arial"/>
              <a:cs typeface="Arial"/>
              <a:sym typeface="Arial"/>
            </a:endParaRPr>
          </a:p>
        </p:txBody>
      </p:sp>
      <p:sp>
        <p:nvSpPr>
          <p:cNvPr id="158" name="Google Shape;158;p20"/>
          <p:cNvSpPr txBox="1"/>
          <p:nvPr>
            <p:ph idx="1" type="body"/>
          </p:nvPr>
        </p:nvSpPr>
        <p:spPr>
          <a:xfrm>
            <a:off x="311700" y="2612575"/>
            <a:ext cx="4185600" cy="2177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Crash Severity = sum of all fatalities, severely &amp; moderately injured</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Very low predictive capabilities (R2 values)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Fails to explain majority of the observed </a:t>
            </a:r>
            <a:r>
              <a:rPr lang="en" sz="1400">
                <a:latin typeface="Arial"/>
                <a:ea typeface="Arial"/>
                <a:cs typeface="Arial"/>
                <a:sym typeface="Arial"/>
              </a:rPr>
              <a:t>variability</a:t>
            </a:r>
            <a:r>
              <a:rPr lang="en" sz="1400">
                <a:latin typeface="Arial"/>
                <a:ea typeface="Arial"/>
                <a:cs typeface="Arial"/>
                <a:sym typeface="Arial"/>
              </a:rPr>
              <a:t> in crash severity.</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However, definitely has relationship in both.</a:t>
            </a:r>
            <a:endParaRPr sz="1400">
              <a:latin typeface="Arial"/>
              <a:ea typeface="Arial"/>
              <a:cs typeface="Arial"/>
              <a:sym typeface="Arial"/>
            </a:endParaRPr>
          </a:p>
          <a:p>
            <a:pPr indent="0" lvl="0" marL="0" rtl="0" algn="l">
              <a:spcBef>
                <a:spcPts val="1200"/>
              </a:spcBef>
              <a:spcAft>
                <a:spcPts val="0"/>
              </a:spcAft>
              <a:buNone/>
            </a:pPr>
            <a:r>
              <a:t/>
            </a:r>
            <a:endParaRPr sz="1400">
              <a:latin typeface="Arial"/>
              <a:ea typeface="Arial"/>
              <a:cs typeface="Arial"/>
              <a:sym typeface="Arial"/>
            </a:endParaRPr>
          </a:p>
        </p:txBody>
      </p:sp>
      <p:sp>
        <p:nvSpPr>
          <p:cNvPr id="159" name="Google Shape;159;p20"/>
          <p:cNvSpPr txBox="1"/>
          <p:nvPr/>
        </p:nvSpPr>
        <p:spPr>
          <a:xfrm>
            <a:off x="7558775" y="551100"/>
            <a:ext cx="1273500" cy="3198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R2 = 0.004</a:t>
            </a:r>
            <a:endParaRPr sz="1800">
              <a:solidFill>
                <a:schemeClr val="lt1"/>
              </a:solidFill>
              <a:latin typeface="Roboto"/>
              <a:ea typeface="Roboto"/>
              <a:cs typeface="Roboto"/>
              <a:sym typeface="Roboto"/>
            </a:endParaRPr>
          </a:p>
        </p:txBody>
      </p:sp>
      <p:sp>
        <p:nvSpPr>
          <p:cNvPr id="160" name="Google Shape;160;p20"/>
          <p:cNvSpPr txBox="1"/>
          <p:nvPr/>
        </p:nvSpPr>
        <p:spPr>
          <a:xfrm>
            <a:off x="7558775" y="3499775"/>
            <a:ext cx="1273500" cy="3198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R2 = 0.005</a:t>
            </a:r>
            <a:endParaRPr sz="1800">
              <a:solidFill>
                <a:schemeClr val="l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311700" y="1557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Data Modelling &amp; Analysis - Logistic Regression</a:t>
            </a:r>
            <a:endParaRPr>
              <a:latin typeface="Arial"/>
              <a:ea typeface="Arial"/>
              <a:cs typeface="Arial"/>
              <a:sym typeface="Arial"/>
            </a:endParaRPr>
          </a:p>
        </p:txBody>
      </p:sp>
      <p:graphicFrame>
        <p:nvGraphicFramePr>
          <p:cNvPr id="166" name="Google Shape;166;p21"/>
          <p:cNvGraphicFramePr/>
          <p:nvPr/>
        </p:nvGraphicFramePr>
        <p:xfrm>
          <a:off x="4308525" y="1288250"/>
          <a:ext cx="3000000" cy="3000000"/>
        </p:xfrm>
        <a:graphic>
          <a:graphicData uri="http://schemas.openxmlformats.org/drawingml/2006/table">
            <a:tbl>
              <a:tblPr>
                <a:noFill/>
                <a:tableStyleId>{3DCC1A47-35A5-4B64-B876-CCCFC45F1107}</a:tableStyleId>
              </a:tblPr>
              <a:tblGrid>
                <a:gridCol w="1112000"/>
                <a:gridCol w="858800"/>
                <a:gridCol w="943200"/>
                <a:gridCol w="1121375"/>
              </a:tblGrid>
              <a:tr h="4136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1300"/>
                        <a:t>Weather</a:t>
                      </a:r>
                      <a:endParaRPr sz="1300"/>
                    </a:p>
                  </a:txBody>
                  <a:tcPr marT="91425" marB="91425" marR="91425" marL="91425"/>
                </a:tc>
                <a:tc>
                  <a:txBody>
                    <a:bodyPr/>
                    <a:lstStyle/>
                    <a:p>
                      <a:pPr indent="0" lvl="0" marL="0" rtl="0" algn="l">
                        <a:spcBef>
                          <a:spcPts val="0"/>
                        </a:spcBef>
                        <a:spcAft>
                          <a:spcPts val="0"/>
                        </a:spcAft>
                        <a:buNone/>
                      </a:pPr>
                      <a:r>
                        <a:rPr lang="en" sz="1300"/>
                        <a:t>Alignment</a:t>
                      </a:r>
                      <a:endParaRPr sz="1300"/>
                    </a:p>
                  </a:txBody>
                  <a:tcPr marT="91425" marB="91425" marR="91425" marL="91425"/>
                </a:tc>
                <a:tc>
                  <a:txBody>
                    <a:bodyPr/>
                    <a:lstStyle/>
                    <a:p>
                      <a:pPr indent="0" lvl="0" marL="0" rtl="0" algn="l">
                        <a:spcBef>
                          <a:spcPts val="0"/>
                        </a:spcBef>
                        <a:spcAft>
                          <a:spcPts val="0"/>
                        </a:spcAft>
                        <a:buNone/>
                      </a:pPr>
                      <a:r>
                        <a:rPr lang="en" sz="1200"/>
                        <a:t>Classification</a:t>
                      </a:r>
                      <a:endParaRPr sz="1200"/>
                    </a:p>
                  </a:txBody>
                  <a:tcPr marT="91425" marB="91425" marR="91425" marL="91425"/>
                </a:tc>
              </a:tr>
              <a:tr h="397725">
                <a:tc>
                  <a:txBody>
                    <a:bodyPr/>
                    <a:lstStyle/>
                    <a:p>
                      <a:pPr indent="0" lvl="0" marL="0" rtl="0" algn="l">
                        <a:spcBef>
                          <a:spcPts val="0"/>
                        </a:spcBef>
                        <a:spcAft>
                          <a:spcPts val="0"/>
                        </a:spcAft>
                        <a:buNone/>
                      </a:pPr>
                      <a:r>
                        <a:rPr lang="en" sz="1300"/>
                        <a:t>Accuracy</a:t>
                      </a:r>
                      <a:endParaRPr sz="1300"/>
                    </a:p>
                  </a:txBody>
                  <a:tcPr marT="91425" marB="91425" marR="91425" marL="91425"/>
                </a:tc>
                <a:tc>
                  <a:txBody>
                    <a:bodyPr/>
                    <a:lstStyle/>
                    <a:p>
                      <a:pPr indent="0" lvl="0" marL="0" rtl="0" algn="ctr">
                        <a:spcBef>
                          <a:spcPts val="0"/>
                        </a:spcBef>
                        <a:spcAft>
                          <a:spcPts val="0"/>
                        </a:spcAft>
                        <a:buNone/>
                      </a:pPr>
                      <a:r>
                        <a:rPr lang="en" sz="1300"/>
                        <a:t>0.64</a:t>
                      </a:r>
                      <a:endParaRPr sz="1300"/>
                    </a:p>
                  </a:txBody>
                  <a:tcPr marT="91425" marB="91425" marR="91425" marL="91425"/>
                </a:tc>
                <a:tc>
                  <a:txBody>
                    <a:bodyPr/>
                    <a:lstStyle/>
                    <a:p>
                      <a:pPr indent="0" lvl="0" marL="0" rtl="0" algn="ctr">
                        <a:spcBef>
                          <a:spcPts val="0"/>
                        </a:spcBef>
                        <a:spcAft>
                          <a:spcPts val="0"/>
                        </a:spcAft>
                        <a:buNone/>
                      </a:pPr>
                      <a:r>
                        <a:rPr lang="en" sz="1300"/>
                        <a:t>0.40</a:t>
                      </a:r>
                      <a:endParaRPr sz="1300"/>
                    </a:p>
                  </a:txBody>
                  <a:tcPr marT="91425" marB="91425" marR="91425" marL="91425"/>
                </a:tc>
                <a:tc>
                  <a:txBody>
                    <a:bodyPr/>
                    <a:lstStyle/>
                    <a:p>
                      <a:pPr indent="0" lvl="0" marL="0" rtl="0" algn="ctr">
                        <a:spcBef>
                          <a:spcPts val="0"/>
                        </a:spcBef>
                        <a:spcAft>
                          <a:spcPts val="0"/>
                        </a:spcAft>
                        <a:buNone/>
                      </a:pPr>
                      <a:r>
                        <a:rPr lang="en" sz="1300"/>
                        <a:t>0.50</a:t>
                      </a:r>
                      <a:endParaRPr sz="1300"/>
                    </a:p>
                  </a:txBody>
                  <a:tcPr marT="91425" marB="91425" marR="91425" marL="91425"/>
                </a:tc>
              </a:tr>
              <a:tr h="397725">
                <a:tc>
                  <a:txBody>
                    <a:bodyPr/>
                    <a:lstStyle/>
                    <a:p>
                      <a:pPr indent="0" lvl="0" marL="0" rtl="0" algn="l">
                        <a:spcBef>
                          <a:spcPts val="0"/>
                        </a:spcBef>
                        <a:spcAft>
                          <a:spcPts val="0"/>
                        </a:spcAft>
                        <a:buNone/>
                      </a:pPr>
                      <a:r>
                        <a:rPr lang="en" sz="1300"/>
                        <a:t>Precision</a:t>
                      </a:r>
                      <a:endParaRPr sz="1300"/>
                    </a:p>
                  </a:txBody>
                  <a:tcPr marT="91425" marB="91425" marR="91425" marL="91425"/>
                </a:tc>
                <a:tc>
                  <a:txBody>
                    <a:bodyPr/>
                    <a:lstStyle/>
                    <a:p>
                      <a:pPr indent="0" lvl="0" marL="0" rtl="0" algn="ctr">
                        <a:spcBef>
                          <a:spcPts val="0"/>
                        </a:spcBef>
                        <a:spcAft>
                          <a:spcPts val="0"/>
                        </a:spcAft>
                        <a:buNone/>
                      </a:pPr>
                      <a:r>
                        <a:rPr lang="en" sz="1300"/>
                        <a:t>0.70</a:t>
                      </a:r>
                      <a:endParaRPr sz="1300"/>
                    </a:p>
                  </a:txBody>
                  <a:tcPr marT="91425" marB="91425" marR="91425" marL="91425"/>
                </a:tc>
                <a:tc>
                  <a:txBody>
                    <a:bodyPr/>
                    <a:lstStyle/>
                    <a:p>
                      <a:pPr indent="0" lvl="0" marL="0" rtl="0" algn="ctr">
                        <a:spcBef>
                          <a:spcPts val="0"/>
                        </a:spcBef>
                        <a:spcAft>
                          <a:spcPts val="0"/>
                        </a:spcAft>
                        <a:buNone/>
                      </a:pPr>
                      <a:r>
                        <a:rPr lang="en" sz="1300"/>
                        <a:t>0.70</a:t>
                      </a:r>
                      <a:endParaRPr sz="1300"/>
                    </a:p>
                  </a:txBody>
                  <a:tcPr marT="91425" marB="91425" marR="91425" marL="91425"/>
                </a:tc>
                <a:tc>
                  <a:txBody>
                    <a:bodyPr/>
                    <a:lstStyle/>
                    <a:p>
                      <a:pPr indent="0" lvl="0" marL="0" rtl="0" algn="ctr">
                        <a:spcBef>
                          <a:spcPts val="0"/>
                        </a:spcBef>
                        <a:spcAft>
                          <a:spcPts val="0"/>
                        </a:spcAft>
                        <a:buNone/>
                      </a:pPr>
                      <a:r>
                        <a:rPr lang="en" sz="1300"/>
                        <a:t>0.70</a:t>
                      </a:r>
                      <a:endParaRPr sz="1300"/>
                    </a:p>
                  </a:txBody>
                  <a:tcPr marT="91425" marB="91425" marR="91425" marL="91425"/>
                </a:tc>
              </a:tr>
              <a:tr h="397725">
                <a:tc>
                  <a:txBody>
                    <a:bodyPr/>
                    <a:lstStyle/>
                    <a:p>
                      <a:pPr indent="0" lvl="0" marL="0" rtl="0" algn="l">
                        <a:spcBef>
                          <a:spcPts val="0"/>
                        </a:spcBef>
                        <a:spcAft>
                          <a:spcPts val="0"/>
                        </a:spcAft>
                        <a:buNone/>
                      </a:pPr>
                      <a:r>
                        <a:rPr lang="en" sz="1300"/>
                        <a:t>Recall</a:t>
                      </a:r>
                      <a:endParaRPr sz="1300"/>
                    </a:p>
                  </a:txBody>
                  <a:tcPr marT="91425" marB="91425" marR="91425" marL="91425"/>
                </a:tc>
                <a:tc>
                  <a:txBody>
                    <a:bodyPr/>
                    <a:lstStyle/>
                    <a:p>
                      <a:pPr indent="0" lvl="0" marL="0" rtl="0" algn="ctr">
                        <a:spcBef>
                          <a:spcPts val="0"/>
                        </a:spcBef>
                        <a:spcAft>
                          <a:spcPts val="0"/>
                        </a:spcAft>
                        <a:buNone/>
                      </a:pPr>
                      <a:r>
                        <a:rPr lang="en" sz="1300"/>
                        <a:t>0.83</a:t>
                      </a:r>
                      <a:endParaRPr sz="1300"/>
                    </a:p>
                  </a:txBody>
                  <a:tcPr marT="91425" marB="91425" marR="91425" marL="91425"/>
                </a:tc>
                <a:tc>
                  <a:txBody>
                    <a:bodyPr/>
                    <a:lstStyle/>
                    <a:p>
                      <a:pPr indent="0" lvl="0" marL="0" rtl="0" algn="ctr">
                        <a:spcBef>
                          <a:spcPts val="0"/>
                        </a:spcBef>
                        <a:spcAft>
                          <a:spcPts val="0"/>
                        </a:spcAft>
                        <a:buNone/>
                      </a:pPr>
                      <a:r>
                        <a:rPr lang="en" sz="1300"/>
                        <a:t>0.22</a:t>
                      </a:r>
                      <a:endParaRPr sz="1300"/>
                    </a:p>
                  </a:txBody>
                  <a:tcPr marT="91425" marB="91425" marR="91425" marL="91425"/>
                </a:tc>
                <a:tc>
                  <a:txBody>
                    <a:bodyPr/>
                    <a:lstStyle/>
                    <a:p>
                      <a:pPr indent="0" lvl="0" marL="0" rtl="0" algn="ctr">
                        <a:spcBef>
                          <a:spcPts val="0"/>
                        </a:spcBef>
                        <a:spcAft>
                          <a:spcPts val="0"/>
                        </a:spcAft>
                        <a:buNone/>
                      </a:pPr>
                      <a:r>
                        <a:rPr lang="en" sz="1300"/>
                        <a:t>0.47</a:t>
                      </a:r>
                      <a:endParaRPr sz="1300"/>
                    </a:p>
                  </a:txBody>
                  <a:tcPr marT="91425" marB="91425" marR="91425" marL="91425"/>
                </a:tc>
              </a:tr>
              <a:tr h="397725">
                <a:tc>
                  <a:txBody>
                    <a:bodyPr/>
                    <a:lstStyle/>
                    <a:p>
                      <a:pPr indent="0" lvl="0" marL="0" rtl="0" algn="l">
                        <a:spcBef>
                          <a:spcPts val="0"/>
                        </a:spcBef>
                        <a:spcAft>
                          <a:spcPts val="0"/>
                        </a:spcAft>
                        <a:buNone/>
                      </a:pPr>
                      <a:r>
                        <a:rPr lang="en" sz="1300"/>
                        <a:t>F1 score</a:t>
                      </a:r>
                      <a:endParaRPr sz="1300"/>
                    </a:p>
                  </a:txBody>
                  <a:tcPr marT="91425" marB="91425" marR="91425" marL="91425"/>
                </a:tc>
                <a:tc>
                  <a:txBody>
                    <a:bodyPr/>
                    <a:lstStyle/>
                    <a:p>
                      <a:pPr indent="0" lvl="0" marL="0" rtl="0" algn="ctr">
                        <a:spcBef>
                          <a:spcPts val="0"/>
                        </a:spcBef>
                        <a:spcAft>
                          <a:spcPts val="0"/>
                        </a:spcAft>
                        <a:buNone/>
                      </a:pPr>
                      <a:r>
                        <a:rPr lang="en" sz="1300"/>
                        <a:t>0.76</a:t>
                      </a:r>
                      <a:endParaRPr sz="1300"/>
                    </a:p>
                  </a:txBody>
                  <a:tcPr marT="91425" marB="91425" marR="91425" marL="91425"/>
                </a:tc>
                <a:tc>
                  <a:txBody>
                    <a:bodyPr/>
                    <a:lstStyle/>
                    <a:p>
                      <a:pPr indent="0" lvl="0" marL="0" rtl="0" algn="ctr">
                        <a:spcBef>
                          <a:spcPts val="0"/>
                        </a:spcBef>
                        <a:spcAft>
                          <a:spcPts val="0"/>
                        </a:spcAft>
                        <a:buNone/>
                      </a:pPr>
                      <a:r>
                        <a:rPr lang="en" sz="1300"/>
                        <a:t>0.34</a:t>
                      </a:r>
                      <a:endParaRPr sz="1300"/>
                    </a:p>
                  </a:txBody>
                  <a:tcPr marT="91425" marB="91425" marR="91425" marL="91425"/>
                </a:tc>
                <a:tc>
                  <a:txBody>
                    <a:bodyPr/>
                    <a:lstStyle/>
                    <a:p>
                      <a:pPr indent="0" lvl="0" marL="0" rtl="0" algn="ctr">
                        <a:spcBef>
                          <a:spcPts val="0"/>
                        </a:spcBef>
                        <a:spcAft>
                          <a:spcPts val="0"/>
                        </a:spcAft>
                        <a:buNone/>
                      </a:pPr>
                      <a:r>
                        <a:rPr lang="en" sz="1300"/>
                        <a:t>0.56</a:t>
                      </a:r>
                      <a:endParaRPr sz="1300"/>
                    </a:p>
                  </a:txBody>
                  <a:tcPr marT="91425" marB="91425" marR="91425" marL="91425"/>
                </a:tc>
              </a:tr>
            </a:tbl>
          </a:graphicData>
        </a:graphic>
      </p:graphicFrame>
      <p:sp>
        <p:nvSpPr>
          <p:cNvPr id="167" name="Google Shape;167;p21"/>
          <p:cNvSpPr txBox="1"/>
          <p:nvPr/>
        </p:nvSpPr>
        <p:spPr>
          <a:xfrm>
            <a:off x="364975" y="763550"/>
            <a:ext cx="85992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Roboto"/>
              <a:buChar char="●"/>
            </a:pPr>
            <a:r>
              <a:rPr lang="en">
                <a:solidFill>
                  <a:schemeClr val="dk2"/>
                </a:solidFill>
              </a:rPr>
              <a:t>Benefits: Sigmoid function returns the probability for each output value from the </a:t>
            </a:r>
            <a:r>
              <a:rPr lang="en">
                <a:solidFill>
                  <a:schemeClr val="dk2"/>
                </a:solidFill>
              </a:rPr>
              <a:t>regression</a:t>
            </a:r>
            <a:r>
              <a:rPr lang="en">
                <a:solidFill>
                  <a:schemeClr val="dk2"/>
                </a:solidFill>
              </a:rPr>
              <a:t> line, which makes it </a:t>
            </a:r>
            <a:r>
              <a:rPr lang="en">
                <a:solidFill>
                  <a:schemeClr val="dk2"/>
                </a:solidFill>
              </a:rPr>
              <a:t>easier to classify the output.</a:t>
            </a:r>
            <a:endParaRPr>
              <a:solidFill>
                <a:schemeClr val="dk2"/>
              </a:solidFill>
            </a:endParaRPr>
          </a:p>
        </p:txBody>
      </p:sp>
      <p:pic>
        <p:nvPicPr>
          <p:cNvPr id="168" name="Google Shape;168;p21"/>
          <p:cNvPicPr preferRelativeResize="0"/>
          <p:nvPr/>
        </p:nvPicPr>
        <p:blipFill>
          <a:blip r:embed="rId3">
            <a:alphaModFix/>
          </a:blip>
          <a:stretch>
            <a:fillRect/>
          </a:stretch>
        </p:blipFill>
        <p:spPr>
          <a:xfrm>
            <a:off x="364975" y="1323875"/>
            <a:ext cx="3667575" cy="3539800"/>
          </a:xfrm>
          <a:prstGeom prst="rect">
            <a:avLst/>
          </a:prstGeom>
          <a:noFill/>
          <a:ln>
            <a:noFill/>
          </a:ln>
        </p:spPr>
      </p:pic>
      <p:sp>
        <p:nvSpPr>
          <p:cNvPr id="169" name="Google Shape;169;p21"/>
          <p:cNvSpPr txBox="1"/>
          <p:nvPr/>
        </p:nvSpPr>
        <p:spPr>
          <a:xfrm>
            <a:off x="997025" y="4525300"/>
            <a:ext cx="20295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Weather and Severity</a:t>
            </a:r>
            <a:endParaRPr>
              <a:solidFill>
                <a:schemeClr val="dk2"/>
              </a:solidFill>
            </a:endParaRPr>
          </a:p>
        </p:txBody>
      </p:sp>
      <p:sp>
        <p:nvSpPr>
          <p:cNvPr id="170" name="Google Shape;170;p21"/>
          <p:cNvSpPr txBox="1"/>
          <p:nvPr/>
        </p:nvSpPr>
        <p:spPr>
          <a:xfrm>
            <a:off x="4308525" y="3424125"/>
            <a:ext cx="4700100" cy="1391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rPr>
              <a:t>Key Findings:</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Weather recall value </a:t>
            </a:r>
            <a:r>
              <a:rPr lang="en">
                <a:solidFill>
                  <a:schemeClr val="dk2"/>
                </a:solidFill>
              </a:rPr>
              <a:t>close to 1       Model’s ability to identify severe crashes is strong.</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 Weather F1 score close to 1       Good variable to predict whether the crash is severe. </a:t>
            </a:r>
            <a:endParaRPr>
              <a:solidFill>
                <a:schemeClr val="dk2"/>
              </a:solidFill>
            </a:endParaRPr>
          </a:p>
        </p:txBody>
      </p:sp>
      <p:sp>
        <p:nvSpPr>
          <p:cNvPr id="171" name="Google Shape;171;p21"/>
          <p:cNvSpPr/>
          <p:nvPr/>
        </p:nvSpPr>
        <p:spPr>
          <a:xfrm>
            <a:off x="7369700" y="3817500"/>
            <a:ext cx="222600" cy="133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 name="Google Shape;172;p21"/>
          <p:cNvSpPr/>
          <p:nvPr/>
        </p:nvSpPr>
        <p:spPr>
          <a:xfrm>
            <a:off x="7222525" y="4285025"/>
            <a:ext cx="222600" cy="133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3" name="Google Shape;173;p21"/>
          <p:cNvSpPr txBox="1"/>
          <p:nvPr/>
        </p:nvSpPr>
        <p:spPr>
          <a:xfrm>
            <a:off x="658750" y="1815975"/>
            <a:ext cx="1192800" cy="320400"/>
          </a:xfrm>
          <a:prstGeom prst="rect">
            <a:avLst/>
          </a:prstGeom>
          <a:solidFill>
            <a:srgbClr val="CC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True negative</a:t>
            </a:r>
            <a:endParaRPr sz="1300">
              <a:solidFill>
                <a:schemeClr val="dk2"/>
              </a:solidFill>
            </a:endParaRPr>
          </a:p>
        </p:txBody>
      </p:sp>
      <p:sp>
        <p:nvSpPr>
          <p:cNvPr id="174" name="Google Shape;174;p21"/>
          <p:cNvSpPr txBox="1"/>
          <p:nvPr/>
        </p:nvSpPr>
        <p:spPr>
          <a:xfrm>
            <a:off x="2012900" y="1815975"/>
            <a:ext cx="1192800" cy="320400"/>
          </a:xfrm>
          <a:prstGeom prst="rect">
            <a:avLst/>
          </a:prstGeom>
          <a:solidFill>
            <a:srgbClr val="CC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False positive</a:t>
            </a:r>
            <a:endParaRPr sz="1300">
              <a:solidFill>
                <a:schemeClr val="dk2"/>
              </a:solidFill>
            </a:endParaRPr>
          </a:p>
        </p:txBody>
      </p:sp>
      <p:sp>
        <p:nvSpPr>
          <p:cNvPr id="175" name="Google Shape;175;p21"/>
          <p:cNvSpPr txBox="1"/>
          <p:nvPr/>
        </p:nvSpPr>
        <p:spPr>
          <a:xfrm>
            <a:off x="578050" y="3170638"/>
            <a:ext cx="1354200" cy="320400"/>
          </a:xfrm>
          <a:prstGeom prst="rect">
            <a:avLst/>
          </a:prstGeom>
          <a:solidFill>
            <a:srgbClr val="CC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False negative</a:t>
            </a:r>
            <a:endParaRPr sz="1300">
              <a:solidFill>
                <a:schemeClr val="dk2"/>
              </a:solidFill>
            </a:endParaRPr>
          </a:p>
        </p:txBody>
      </p:sp>
      <p:sp>
        <p:nvSpPr>
          <p:cNvPr id="176" name="Google Shape;176;p21"/>
          <p:cNvSpPr txBox="1"/>
          <p:nvPr/>
        </p:nvSpPr>
        <p:spPr>
          <a:xfrm>
            <a:off x="2012900" y="3170625"/>
            <a:ext cx="1192800" cy="320400"/>
          </a:xfrm>
          <a:prstGeom prst="rect">
            <a:avLst/>
          </a:prstGeom>
          <a:solidFill>
            <a:srgbClr val="CC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rPr>
              <a:t>True</a:t>
            </a:r>
            <a:r>
              <a:rPr lang="en" sz="1300">
                <a:solidFill>
                  <a:schemeClr val="dk2"/>
                </a:solidFill>
              </a:rPr>
              <a:t> positive</a:t>
            </a:r>
            <a:endParaRPr sz="13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2"/>
          <p:cNvSpPr txBox="1"/>
          <p:nvPr>
            <p:ph type="title"/>
          </p:nvPr>
        </p:nvSpPr>
        <p:spPr>
          <a:xfrm>
            <a:off x="311700" y="1557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Data Modelling &amp; Analysis - Logistic Regression</a:t>
            </a:r>
            <a:endParaRPr>
              <a:latin typeface="Arial"/>
              <a:ea typeface="Arial"/>
              <a:cs typeface="Arial"/>
              <a:sym typeface="Arial"/>
            </a:endParaRPr>
          </a:p>
        </p:txBody>
      </p:sp>
      <p:pic>
        <p:nvPicPr>
          <p:cNvPr id="182" name="Google Shape;182;p22"/>
          <p:cNvPicPr preferRelativeResize="0"/>
          <p:nvPr/>
        </p:nvPicPr>
        <p:blipFill>
          <a:blip r:embed="rId3">
            <a:alphaModFix/>
          </a:blip>
          <a:stretch>
            <a:fillRect/>
          </a:stretch>
        </p:blipFill>
        <p:spPr>
          <a:xfrm>
            <a:off x="3096888" y="720112"/>
            <a:ext cx="2798191" cy="2165550"/>
          </a:xfrm>
          <a:prstGeom prst="rect">
            <a:avLst/>
          </a:prstGeom>
          <a:noFill/>
          <a:ln>
            <a:noFill/>
          </a:ln>
        </p:spPr>
      </p:pic>
      <p:pic>
        <p:nvPicPr>
          <p:cNvPr id="183" name="Google Shape;183;p22"/>
          <p:cNvPicPr preferRelativeResize="0"/>
          <p:nvPr/>
        </p:nvPicPr>
        <p:blipFill>
          <a:blip r:embed="rId4">
            <a:alphaModFix/>
          </a:blip>
          <a:stretch>
            <a:fillRect/>
          </a:stretch>
        </p:blipFill>
        <p:spPr>
          <a:xfrm>
            <a:off x="6082000" y="718125"/>
            <a:ext cx="2798200" cy="2169478"/>
          </a:xfrm>
          <a:prstGeom prst="rect">
            <a:avLst/>
          </a:prstGeom>
          <a:noFill/>
          <a:ln>
            <a:noFill/>
          </a:ln>
        </p:spPr>
      </p:pic>
      <p:pic>
        <p:nvPicPr>
          <p:cNvPr id="184" name="Google Shape;184;p22"/>
          <p:cNvPicPr preferRelativeResize="0"/>
          <p:nvPr/>
        </p:nvPicPr>
        <p:blipFill>
          <a:blip r:embed="rId5">
            <a:alphaModFix/>
          </a:blip>
          <a:stretch>
            <a:fillRect/>
          </a:stretch>
        </p:blipFill>
        <p:spPr>
          <a:xfrm>
            <a:off x="142450" y="720100"/>
            <a:ext cx="2767525" cy="2165561"/>
          </a:xfrm>
          <a:prstGeom prst="rect">
            <a:avLst/>
          </a:prstGeom>
          <a:noFill/>
          <a:ln>
            <a:noFill/>
          </a:ln>
        </p:spPr>
      </p:pic>
      <p:sp>
        <p:nvSpPr>
          <p:cNvPr id="185" name="Google Shape;185;p22"/>
          <p:cNvSpPr txBox="1"/>
          <p:nvPr/>
        </p:nvSpPr>
        <p:spPr>
          <a:xfrm>
            <a:off x="142450" y="909450"/>
            <a:ext cx="1744800" cy="4002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Weather &amp; Severity</a:t>
            </a:r>
            <a:endParaRPr>
              <a:solidFill>
                <a:schemeClr val="lt1"/>
              </a:solidFill>
            </a:endParaRPr>
          </a:p>
        </p:txBody>
      </p:sp>
      <p:sp>
        <p:nvSpPr>
          <p:cNvPr id="186" name="Google Shape;186;p22"/>
          <p:cNvSpPr txBox="1"/>
          <p:nvPr/>
        </p:nvSpPr>
        <p:spPr>
          <a:xfrm>
            <a:off x="3045025" y="909450"/>
            <a:ext cx="1879200" cy="4002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Alignment</a:t>
            </a:r>
            <a:r>
              <a:rPr lang="en">
                <a:solidFill>
                  <a:schemeClr val="lt1"/>
                </a:solidFill>
              </a:rPr>
              <a:t> &amp; Severity</a:t>
            </a:r>
            <a:endParaRPr>
              <a:solidFill>
                <a:schemeClr val="lt1"/>
              </a:solidFill>
            </a:endParaRPr>
          </a:p>
        </p:txBody>
      </p:sp>
      <p:sp>
        <p:nvSpPr>
          <p:cNvPr id="187" name="Google Shape;187;p22"/>
          <p:cNvSpPr txBox="1"/>
          <p:nvPr/>
        </p:nvSpPr>
        <p:spPr>
          <a:xfrm>
            <a:off x="5957375" y="909450"/>
            <a:ext cx="2134500" cy="4002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Classification</a:t>
            </a:r>
            <a:r>
              <a:rPr lang="en">
                <a:solidFill>
                  <a:schemeClr val="lt1"/>
                </a:solidFill>
              </a:rPr>
              <a:t> &amp; Severity</a:t>
            </a:r>
            <a:endParaRPr>
              <a:solidFill>
                <a:schemeClr val="lt1"/>
              </a:solidFill>
            </a:endParaRPr>
          </a:p>
        </p:txBody>
      </p:sp>
      <p:sp>
        <p:nvSpPr>
          <p:cNvPr id="188" name="Google Shape;188;p22"/>
          <p:cNvSpPr txBox="1"/>
          <p:nvPr/>
        </p:nvSpPr>
        <p:spPr>
          <a:xfrm>
            <a:off x="1824900" y="2439125"/>
            <a:ext cx="1130400" cy="400200"/>
          </a:xfrm>
          <a:prstGeom prst="rect">
            <a:avLst/>
          </a:prstGeom>
          <a:solidFill>
            <a:schemeClr val="accent5"/>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rPr>
              <a:t>Area = 0.52</a:t>
            </a:r>
            <a:endParaRPr>
              <a:solidFill>
                <a:schemeClr val="lt1"/>
              </a:solidFill>
            </a:endParaRPr>
          </a:p>
        </p:txBody>
      </p:sp>
      <p:sp>
        <p:nvSpPr>
          <p:cNvPr id="189" name="Google Shape;189;p22"/>
          <p:cNvSpPr txBox="1"/>
          <p:nvPr/>
        </p:nvSpPr>
        <p:spPr>
          <a:xfrm>
            <a:off x="4840875" y="2487400"/>
            <a:ext cx="1130400" cy="400200"/>
          </a:xfrm>
          <a:prstGeom prst="rect">
            <a:avLst/>
          </a:prstGeom>
          <a:solidFill>
            <a:schemeClr val="accent5"/>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rPr>
              <a:t>Area = 0.50</a:t>
            </a:r>
            <a:endParaRPr>
              <a:solidFill>
                <a:schemeClr val="lt1"/>
              </a:solidFill>
            </a:endParaRPr>
          </a:p>
        </p:txBody>
      </p:sp>
      <p:sp>
        <p:nvSpPr>
          <p:cNvPr id="190" name="Google Shape;190;p22"/>
          <p:cNvSpPr txBox="1"/>
          <p:nvPr/>
        </p:nvSpPr>
        <p:spPr>
          <a:xfrm>
            <a:off x="7856850" y="2487400"/>
            <a:ext cx="1130400" cy="400200"/>
          </a:xfrm>
          <a:prstGeom prst="rect">
            <a:avLst/>
          </a:prstGeom>
          <a:solidFill>
            <a:schemeClr val="accent5"/>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rPr>
              <a:t>Area = 0.52</a:t>
            </a:r>
            <a:endParaRPr>
              <a:solidFill>
                <a:schemeClr val="lt1"/>
              </a:solidFill>
            </a:endParaRPr>
          </a:p>
        </p:txBody>
      </p:sp>
      <p:sp>
        <p:nvSpPr>
          <p:cNvPr id="191" name="Google Shape;191;p22"/>
          <p:cNvSpPr txBox="1"/>
          <p:nvPr/>
        </p:nvSpPr>
        <p:spPr>
          <a:xfrm>
            <a:off x="216300" y="3176275"/>
            <a:ext cx="87114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rPr>
              <a:t>Key Findings:</a:t>
            </a:r>
            <a:endParaRPr>
              <a:solidFill>
                <a:schemeClr val="dk2"/>
              </a:solidFill>
            </a:endParaRPr>
          </a:p>
          <a:p>
            <a:pPr indent="-317500" lvl="0" marL="457200" rtl="0" algn="l">
              <a:lnSpc>
                <a:spcPct val="150000"/>
              </a:lnSpc>
              <a:spcBef>
                <a:spcPts val="0"/>
              </a:spcBef>
              <a:spcAft>
                <a:spcPts val="0"/>
              </a:spcAft>
              <a:buClr>
                <a:schemeClr val="dk2"/>
              </a:buClr>
              <a:buSzPts val="1400"/>
              <a:buChar char="●"/>
            </a:pPr>
            <a:r>
              <a:rPr lang="en">
                <a:solidFill>
                  <a:schemeClr val="dk2"/>
                </a:solidFill>
              </a:rPr>
              <a:t>Slightly larger than 0.5       </a:t>
            </a:r>
            <a:r>
              <a:rPr lang="en">
                <a:solidFill>
                  <a:schemeClr val="dk2"/>
                </a:solidFill>
              </a:rPr>
              <a:t>Performance is only slightly better than random guessing</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Equals to 0.5        Model has no discrimination and is making random predictions</a:t>
            </a:r>
            <a:endParaRPr>
              <a:solidFill>
                <a:schemeClr val="dk2"/>
              </a:solidFill>
            </a:endParaRPr>
          </a:p>
        </p:txBody>
      </p:sp>
      <p:sp>
        <p:nvSpPr>
          <p:cNvPr id="192" name="Google Shape;192;p22"/>
          <p:cNvSpPr/>
          <p:nvPr/>
        </p:nvSpPr>
        <p:spPr>
          <a:xfrm>
            <a:off x="2580525" y="3632875"/>
            <a:ext cx="222600" cy="133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3" name="Google Shape;193;p22"/>
          <p:cNvSpPr/>
          <p:nvPr/>
        </p:nvSpPr>
        <p:spPr>
          <a:xfrm>
            <a:off x="1887250" y="3968800"/>
            <a:ext cx="222600" cy="133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0" y="25575"/>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latin typeface="Arial"/>
                <a:ea typeface="Arial"/>
                <a:cs typeface="Arial"/>
                <a:sym typeface="Arial"/>
              </a:rPr>
              <a:t>Data Modelling &amp; Analysis- Decision Tree Classification</a:t>
            </a:r>
            <a:endParaRPr sz="2400">
              <a:latin typeface="Arial"/>
              <a:ea typeface="Arial"/>
              <a:cs typeface="Arial"/>
              <a:sym typeface="Arial"/>
            </a:endParaRPr>
          </a:p>
        </p:txBody>
      </p:sp>
      <p:sp>
        <p:nvSpPr>
          <p:cNvPr id="199" name="Google Shape;199;p23"/>
          <p:cNvSpPr txBox="1"/>
          <p:nvPr>
            <p:ph idx="1" type="body"/>
          </p:nvPr>
        </p:nvSpPr>
        <p:spPr>
          <a:xfrm>
            <a:off x="0" y="529100"/>
            <a:ext cx="8520600" cy="879000"/>
          </a:xfrm>
          <a:prstGeom prst="rect">
            <a:avLst/>
          </a:prstGeom>
        </p:spPr>
        <p:txBody>
          <a:bodyPr anchorCtr="0" anchor="t" bIns="91425" lIns="91425" spcFirstLastPara="1" rIns="91425" wrap="square" tIns="91425">
            <a:normAutofit fontScale="62500"/>
          </a:bodyPr>
          <a:lstStyle/>
          <a:p>
            <a:pPr indent="-305521" lvl="0" marL="457200" rtl="0" algn="l">
              <a:spcBef>
                <a:spcPts val="0"/>
              </a:spcBef>
              <a:spcAft>
                <a:spcPts val="0"/>
              </a:spcAft>
              <a:buSzPct val="100000"/>
              <a:buFont typeface="Arial"/>
              <a:buChar char="●"/>
            </a:pPr>
            <a:r>
              <a:rPr lang="en" sz="1938">
                <a:latin typeface="Arial"/>
                <a:ea typeface="Arial"/>
                <a:cs typeface="Arial"/>
                <a:sym typeface="Arial"/>
              </a:rPr>
              <a:t>Variables stated in Q1: Town, Street_of_crash, Street_Type, Weather, Speed_limit, Year_of_crash, Month_of_crash </a:t>
            </a:r>
            <a:endParaRPr sz="1938">
              <a:latin typeface="Arial"/>
              <a:ea typeface="Arial"/>
              <a:cs typeface="Arial"/>
              <a:sym typeface="Arial"/>
            </a:endParaRPr>
          </a:p>
          <a:p>
            <a:pPr indent="-304006" lvl="0" marL="457200" rtl="0" algn="l">
              <a:spcBef>
                <a:spcPts val="0"/>
              </a:spcBef>
              <a:spcAft>
                <a:spcPts val="0"/>
              </a:spcAft>
              <a:buSzPct val="100000"/>
              <a:buFont typeface="Arial"/>
              <a:buChar char="●"/>
            </a:pPr>
            <a:r>
              <a:rPr lang="en" sz="1900">
                <a:latin typeface="Arial"/>
                <a:ea typeface="Arial"/>
                <a:cs typeface="Arial"/>
                <a:sym typeface="Arial"/>
              </a:rPr>
              <a:t>New variables: </a:t>
            </a:r>
            <a:r>
              <a:rPr lang="en" sz="1900">
                <a:solidFill>
                  <a:srgbClr val="000000"/>
                </a:solidFill>
                <a:latin typeface="Arial"/>
                <a:ea typeface="Arial"/>
                <a:cs typeface="Arial"/>
                <a:sym typeface="Arial"/>
              </a:rPr>
              <a:t>'Street_lighting', 'RUM_code', 'Key_TU_type','First_impact_type' ,  'Urbanisation', 'DCA_description', ‘RUM_description’, ‘Speed_limit’,  'Other_TU_type',  'Latitude', 'Longitude'</a:t>
            </a:r>
            <a:endParaRPr sz="1900">
              <a:latin typeface="Arial"/>
              <a:ea typeface="Arial"/>
              <a:cs typeface="Arial"/>
              <a:sym typeface="Arial"/>
            </a:endParaRPr>
          </a:p>
        </p:txBody>
      </p:sp>
      <p:sp>
        <p:nvSpPr>
          <p:cNvPr id="200" name="Google Shape;200;p23"/>
          <p:cNvSpPr txBox="1"/>
          <p:nvPr/>
        </p:nvSpPr>
        <p:spPr>
          <a:xfrm>
            <a:off x="0" y="1254663"/>
            <a:ext cx="29193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2"/>
                </a:solidFill>
                <a:latin typeface="Roboto"/>
                <a:ea typeface="Roboto"/>
                <a:cs typeface="Roboto"/>
                <a:sym typeface="Roboto"/>
              </a:rPr>
              <a:t>Figure 1</a:t>
            </a:r>
            <a:endParaRPr i="1" sz="1800">
              <a:solidFill>
                <a:schemeClr val="dk2"/>
              </a:solidFill>
              <a:latin typeface="Roboto"/>
              <a:ea typeface="Roboto"/>
              <a:cs typeface="Roboto"/>
              <a:sym typeface="Roboto"/>
            </a:endParaRPr>
          </a:p>
        </p:txBody>
      </p:sp>
      <p:sp>
        <p:nvSpPr>
          <p:cNvPr id="201" name="Google Shape;201;p23"/>
          <p:cNvSpPr txBox="1"/>
          <p:nvPr/>
        </p:nvSpPr>
        <p:spPr>
          <a:xfrm>
            <a:off x="0" y="3064425"/>
            <a:ext cx="29193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dk2"/>
                </a:solidFill>
                <a:latin typeface="Roboto"/>
                <a:ea typeface="Roboto"/>
                <a:cs typeface="Roboto"/>
                <a:sym typeface="Roboto"/>
              </a:rPr>
              <a:t>Figure 2</a:t>
            </a:r>
            <a:endParaRPr i="1" sz="1800">
              <a:solidFill>
                <a:schemeClr val="dk2"/>
              </a:solidFill>
              <a:latin typeface="Roboto"/>
              <a:ea typeface="Roboto"/>
              <a:cs typeface="Roboto"/>
              <a:sym typeface="Roboto"/>
            </a:endParaRPr>
          </a:p>
        </p:txBody>
      </p:sp>
      <p:cxnSp>
        <p:nvCxnSpPr>
          <p:cNvPr id="202" name="Google Shape;202;p23"/>
          <p:cNvCxnSpPr/>
          <p:nvPr/>
        </p:nvCxnSpPr>
        <p:spPr>
          <a:xfrm flipH="1" rot="10800000">
            <a:off x="49225" y="2981900"/>
            <a:ext cx="9140100" cy="34800"/>
          </a:xfrm>
          <a:prstGeom prst="straightConnector1">
            <a:avLst/>
          </a:prstGeom>
          <a:noFill/>
          <a:ln cap="flat" cmpd="sng" w="9525">
            <a:solidFill>
              <a:schemeClr val="dk2"/>
            </a:solidFill>
            <a:prstDash val="solid"/>
            <a:round/>
            <a:headEnd len="med" w="med" type="none"/>
            <a:tailEnd len="med" w="med" type="none"/>
          </a:ln>
        </p:spPr>
      </p:cxnSp>
      <p:pic>
        <p:nvPicPr>
          <p:cNvPr id="203" name="Google Shape;203;p23"/>
          <p:cNvPicPr preferRelativeResize="0"/>
          <p:nvPr/>
        </p:nvPicPr>
        <p:blipFill>
          <a:blip r:embed="rId3">
            <a:alphaModFix/>
          </a:blip>
          <a:stretch>
            <a:fillRect/>
          </a:stretch>
        </p:blipFill>
        <p:spPr>
          <a:xfrm>
            <a:off x="2919300" y="1352349"/>
            <a:ext cx="5909301" cy="1317725"/>
          </a:xfrm>
          <a:prstGeom prst="rect">
            <a:avLst/>
          </a:prstGeom>
          <a:noFill/>
          <a:ln>
            <a:noFill/>
          </a:ln>
        </p:spPr>
      </p:pic>
      <p:pic>
        <p:nvPicPr>
          <p:cNvPr id="204" name="Google Shape;204;p23"/>
          <p:cNvPicPr preferRelativeResize="0"/>
          <p:nvPr/>
        </p:nvPicPr>
        <p:blipFill>
          <a:blip r:embed="rId4">
            <a:alphaModFix/>
          </a:blip>
          <a:stretch>
            <a:fillRect/>
          </a:stretch>
        </p:blipFill>
        <p:spPr>
          <a:xfrm>
            <a:off x="49225" y="1676510"/>
            <a:ext cx="2894413" cy="1257675"/>
          </a:xfrm>
          <a:prstGeom prst="rect">
            <a:avLst/>
          </a:prstGeom>
          <a:noFill/>
          <a:ln>
            <a:noFill/>
          </a:ln>
        </p:spPr>
      </p:pic>
      <p:pic>
        <p:nvPicPr>
          <p:cNvPr id="205" name="Google Shape;205;p23"/>
          <p:cNvPicPr preferRelativeResize="0"/>
          <p:nvPr/>
        </p:nvPicPr>
        <p:blipFill>
          <a:blip r:embed="rId5">
            <a:alphaModFix/>
          </a:blip>
          <a:stretch>
            <a:fillRect/>
          </a:stretch>
        </p:blipFill>
        <p:spPr>
          <a:xfrm>
            <a:off x="6942400" y="2696905"/>
            <a:ext cx="2110952" cy="1257675"/>
          </a:xfrm>
          <a:prstGeom prst="rect">
            <a:avLst/>
          </a:prstGeom>
          <a:noFill/>
          <a:ln>
            <a:noFill/>
          </a:ln>
        </p:spPr>
      </p:pic>
      <p:pic>
        <p:nvPicPr>
          <p:cNvPr id="206" name="Google Shape;206;p23"/>
          <p:cNvPicPr preferRelativeResize="0"/>
          <p:nvPr/>
        </p:nvPicPr>
        <p:blipFill rotWithShape="1">
          <a:blip r:embed="rId6">
            <a:alphaModFix/>
          </a:blip>
          <a:srcRect b="0" l="5428" r="0" t="0"/>
          <a:stretch/>
        </p:blipFill>
        <p:spPr>
          <a:xfrm>
            <a:off x="49225" y="3437975"/>
            <a:ext cx="3025575" cy="1575210"/>
          </a:xfrm>
          <a:prstGeom prst="rect">
            <a:avLst/>
          </a:prstGeom>
          <a:noFill/>
          <a:ln>
            <a:noFill/>
          </a:ln>
        </p:spPr>
      </p:pic>
      <p:pic>
        <p:nvPicPr>
          <p:cNvPr id="207" name="Google Shape;207;p23"/>
          <p:cNvPicPr preferRelativeResize="0"/>
          <p:nvPr/>
        </p:nvPicPr>
        <p:blipFill rotWithShape="1">
          <a:blip r:embed="rId7">
            <a:alphaModFix/>
          </a:blip>
          <a:srcRect b="0" l="0" r="0" t="27001"/>
          <a:stretch/>
        </p:blipFill>
        <p:spPr>
          <a:xfrm>
            <a:off x="3234700" y="3954575"/>
            <a:ext cx="5909299" cy="1113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Data Modelling &amp; Analysis</a:t>
            </a:r>
            <a:endParaRPr>
              <a:latin typeface="Arial"/>
              <a:ea typeface="Arial"/>
              <a:cs typeface="Arial"/>
              <a:sym typeface="Arial"/>
            </a:endParaRPr>
          </a:p>
        </p:txBody>
      </p:sp>
      <p:sp>
        <p:nvSpPr>
          <p:cNvPr id="213" name="Google Shape;213;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latin typeface="Arial"/>
                <a:ea typeface="Arial"/>
                <a:cs typeface="Arial"/>
                <a:sym typeface="Arial"/>
              </a:rPr>
              <a:t>Conducted new logistic analysis with updated features</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a:latin typeface="Arial"/>
                <a:ea typeface="Arial"/>
                <a:cs typeface="Arial"/>
                <a:sym typeface="Arial"/>
              </a:rPr>
              <a:t>Variables used: Type_of_location, Alignment, Surface_condition, Weather, Speed_limit, RUM_code, First_impact_type, Key_TU_type, Other_TU_type</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Used chi-square test to determine the optimal features to use in predicting crash severity</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ROC score - 0.72, Precision-recall score - 0</a:t>
            </a:r>
            <a:r>
              <a:rPr lang="en" sz="1400">
                <a:latin typeface="Arial"/>
                <a:ea typeface="Arial"/>
                <a:cs typeface="Arial"/>
                <a:sym typeface="Arial"/>
              </a:rPr>
              <a:t>.87</a:t>
            </a:r>
            <a:endParaRPr sz="1400">
              <a:latin typeface="Arial"/>
              <a:ea typeface="Arial"/>
              <a:cs typeface="Arial"/>
              <a:sym typeface="Arial"/>
            </a:endParaRPr>
          </a:p>
        </p:txBody>
      </p:sp>
      <p:pic>
        <p:nvPicPr>
          <p:cNvPr id="214" name="Google Shape;214;p24"/>
          <p:cNvPicPr preferRelativeResize="0"/>
          <p:nvPr/>
        </p:nvPicPr>
        <p:blipFill rotWithShape="1">
          <a:blip r:embed="rId3">
            <a:alphaModFix/>
          </a:blip>
          <a:srcRect b="0" l="3300" r="-3299" t="0"/>
          <a:stretch/>
        </p:blipFill>
        <p:spPr>
          <a:xfrm>
            <a:off x="3409534" y="2603888"/>
            <a:ext cx="2731704" cy="2159275"/>
          </a:xfrm>
          <a:prstGeom prst="rect">
            <a:avLst/>
          </a:prstGeom>
          <a:noFill/>
          <a:ln>
            <a:noFill/>
          </a:ln>
        </p:spPr>
      </p:pic>
      <p:pic>
        <p:nvPicPr>
          <p:cNvPr id="215" name="Google Shape;215;p24"/>
          <p:cNvPicPr preferRelativeResize="0"/>
          <p:nvPr/>
        </p:nvPicPr>
        <p:blipFill>
          <a:blip r:embed="rId4">
            <a:alphaModFix/>
          </a:blip>
          <a:stretch>
            <a:fillRect/>
          </a:stretch>
        </p:blipFill>
        <p:spPr>
          <a:xfrm>
            <a:off x="6061825" y="2628581"/>
            <a:ext cx="2731725" cy="2109882"/>
          </a:xfrm>
          <a:prstGeom prst="rect">
            <a:avLst/>
          </a:prstGeom>
          <a:noFill/>
          <a:ln>
            <a:noFill/>
          </a:ln>
        </p:spPr>
      </p:pic>
      <p:sp>
        <p:nvSpPr>
          <p:cNvPr id="216" name="Google Shape;216;p24"/>
          <p:cNvSpPr txBox="1"/>
          <p:nvPr/>
        </p:nvSpPr>
        <p:spPr>
          <a:xfrm>
            <a:off x="-2415500" y="927750"/>
            <a:ext cx="3352200" cy="17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300">
              <a:solidFill>
                <a:srgbClr val="FF0000"/>
              </a:solidFill>
              <a:latin typeface="Roboto"/>
              <a:ea typeface="Roboto"/>
              <a:cs typeface="Roboto"/>
              <a:sym typeface="Roboto"/>
            </a:endParaRPr>
          </a:p>
        </p:txBody>
      </p:sp>
      <p:sp>
        <p:nvSpPr>
          <p:cNvPr id="217" name="Google Shape;217;p24"/>
          <p:cNvSpPr txBox="1"/>
          <p:nvPr/>
        </p:nvSpPr>
        <p:spPr>
          <a:xfrm>
            <a:off x="1106901" y="2745475"/>
            <a:ext cx="1492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rPr>
              <a:t>Results from Chi-square test</a:t>
            </a:r>
            <a:endParaRPr sz="800">
              <a:solidFill>
                <a:schemeClr val="dk2"/>
              </a:solidFill>
            </a:endParaRPr>
          </a:p>
        </p:txBody>
      </p:sp>
      <p:pic>
        <p:nvPicPr>
          <p:cNvPr id="218" name="Google Shape;218;p24"/>
          <p:cNvPicPr preferRelativeResize="0"/>
          <p:nvPr/>
        </p:nvPicPr>
        <p:blipFill>
          <a:blip r:embed="rId5">
            <a:alphaModFix/>
          </a:blip>
          <a:stretch>
            <a:fillRect/>
          </a:stretch>
        </p:blipFill>
        <p:spPr>
          <a:xfrm>
            <a:off x="487287" y="3055175"/>
            <a:ext cx="2731725" cy="12567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25"/>
          <p:cNvPicPr preferRelativeResize="0"/>
          <p:nvPr/>
        </p:nvPicPr>
        <p:blipFill>
          <a:blip r:embed="rId3">
            <a:alphaModFix/>
          </a:blip>
          <a:stretch>
            <a:fillRect/>
          </a:stretch>
        </p:blipFill>
        <p:spPr>
          <a:xfrm flipH="1">
            <a:off x="0" y="3866386"/>
            <a:ext cx="9144000" cy="1353314"/>
          </a:xfrm>
          <a:prstGeom prst="rect">
            <a:avLst/>
          </a:prstGeom>
          <a:noFill/>
          <a:ln>
            <a:noFill/>
          </a:ln>
        </p:spPr>
      </p:pic>
      <p:sp>
        <p:nvSpPr>
          <p:cNvPr id="224" name="Google Shape;224;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Overall Findings</a:t>
            </a:r>
            <a:endParaRPr>
              <a:latin typeface="Arial"/>
              <a:ea typeface="Arial"/>
              <a:cs typeface="Arial"/>
              <a:sym typeface="Arial"/>
            </a:endParaRPr>
          </a:p>
        </p:txBody>
      </p:sp>
      <p:grpSp>
        <p:nvGrpSpPr>
          <p:cNvPr id="225" name="Google Shape;225;p25"/>
          <p:cNvGrpSpPr/>
          <p:nvPr/>
        </p:nvGrpSpPr>
        <p:grpSpPr>
          <a:xfrm>
            <a:off x="311700" y="1599325"/>
            <a:ext cx="2177700" cy="2424125"/>
            <a:chOff x="311700" y="1599325"/>
            <a:chExt cx="2177700" cy="2424125"/>
          </a:xfrm>
        </p:grpSpPr>
        <p:pic>
          <p:nvPicPr>
            <p:cNvPr id="226" name="Google Shape;226;p25"/>
            <p:cNvPicPr preferRelativeResize="0"/>
            <p:nvPr/>
          </p:nvPicPr>
          <p:blipFill>
            <a:blip r:embed="rId4">
              <a:alphaModFix/>
            </a:blip>
            <a:stretch>
              <a:fillRect/>
            </a:stretch>
          </p:blipFill>
          <p:spPr>
            <a:xfrm>
              <a:off x="955850" y="1599325"/>
              <a:ext cx="889400" cy="889400"/>
            </a:xfrm>
            <a:prstGeom prst="rect">
              <a:avLst/>
            </a:prstGeom>
            <a:noFill/>
            <a:ln>
              <a:noFill/>
            </a:ln>
          </p:spPr>
        </p:pic>
        <p:sp>
          <p:nvSpPr>
            <p:cNvPr id="227" name="Google Shape;227;p25"/>
            <p:cNvSpPr txBox="1"/>
            <p:nvPr/>
          </p:nvSpPr>
          <p:spPr>
            <a:xfrm>
              <a:off x="311700" y="2724150"/>
              <a:ext cx="2177700" cy="129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a:t>Western Sydney suburbs (eg Bankstown, Liverpool) had highest crash count</a:t>
              </a:r>
              <a:endParaRPr sz="1800">
                <a:solidFill>
                  <a:schemeClr val="dk2"/>
                </a:solidFill>
                <a:latin typeface="Roboto"/>
                <a:ea typeface="Roboto"/>
                <a:cs typeface="Roboto"/>
                <a:sym typeface="Roboto"/>
              </a:endParaRPr>
            </a:p>
          </p:txBody>
        </p:sp>
      </p:grpSp>
      <p:grpSp>
        <p:nvGrpSpPr>
          <p:cNvPr id="228" name="Google Shape;228;p25"/>
          <p:cNvGrpSpPr/>
          <p:nvPr/>
        </p:nvGrpSpPr>
        <p:grpSpPr>
          <a:xfrm>
            <a:off x="2833708" y="1599325"/>
            <a:ext cx="1545000" cy="2507825"/>
            <a:chOff x="2631375" y="1599325"/>
            <a:chExt cx="1545000" cy="2507825"/>
          </a:xfrm>
        </p:grpSpPr>
        <p:pic>
          <p:nvPicPr>
            <p:cNvPr id="229" name="Google Shape;229;p25"/>
            <p:cNvPicPr preferRelativeResize="0"/>
            <p:nvPr/>
          </p:nvPicPr>
          <p:blipFill>
            <a:blip r:embed="rId5">
              <a:alphaModFix/>
            </a:blip>
            <a:stretch>
              <a:fillRect/>
            </a:stretch>
          </p:blipFill>
          <p:spPr>
            <a:xfrm>
              <a:off x="2959175" y="1599325"/>
              <a:ext cx="889400" cy="889400"/>
            </a:xfrm>
            <a:prstGeom prst="rect">
              <a:avLst/>
            </a:prstGeom>
            <a:noFill/>
            <a:ln>
              <a:noFill/>
            </a:ln>
          </p:spPr>
        </p:pic>
        <p:sp>
          <p:nvSpPr>
            <p:cNvPr id="230" name="Google Shape;230;p25"/>
            <p:cNvSpPr txBox="1"/>
            <p:nvPr/>
          </p:nvSpPr>
          <p:spPr>
            <a:xfrm>
              <a:off x="2631375" y="2724150"/>
              <a:ext cx="1545000" cy="1383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t>Location with highest crash rate are on highways</a:t>
              </a:r>
              <a:endParaRPr/>
            </a:p>
            <a:p>
              <a:pPr indent="0" lvl="0" marL="0" rtl="0" algn="ctr">
                <a:spcBef>
                  <a:spcPts val="0"/>
                </a:spcBef>
                <a:spcAft>
                  <a:spcPts val="0"/>
                </a:spcAft>
                <a:buNone/>
              </a:pPr>
              <a:r>
                <a:t/>
              </a:r>
              <a:endParaRPr sz="1800">
                <a:solidFill>
                  <a:schemeClr val="dk2"/>
                </a:solidFill>
                <a:latin typeface="Roboto"/>
                <a:ea typeface="Roboto"/>
                <a:cs typeface="Roboto"/>
                <a:sym typeface="Roboto"/>
              </a:endParaRPr>
            </a:p>
          </p:txBody>
        </p:sp>
      </p:grpSp>
      <p:grpSp>
        <p:nvGrpSpPr>
          <p:cNvPr id="231" name="Google Shape;231;p25"/>
          <p:cNvGrpSpPr/>
          <p:nvPr/>
        </p:nvGrpSpPr>
        <p:grpSpPr>
          <a:xfrm>
            <a:off x="4723017" y="1536000"/>
            <a:ext cx="1750200" cy="2331750"/>
            <a:chOff x="4621850" y="1536000"/>
            <a:chExt cx="1750200" cy="2331750"/>
          </a:xfrm>
        </p:grpSpPr>
        <p:pic>
          <p:nvPicPr>
            <p:cNvPr id="232" name="Google Shape;232;p25"/>
            <p:cNvPicPr preferRelativeResize="0"/>
            <p:nvPr/>
          </p:nvPicPr>
          <p:blipFill>
            <a:blip r:embed="rId6">
              <a:alphaModFix/>
            </a:blip>
            <a:stretch>
              <a:fillRect/>
            </a:stretch>
          </p:blipFill>
          <p:spPr>
            <a:xfrm>
              <a:off x="5030775" y="1536000"/>
              <a:ext cx="932350" cy="932350"/>
            </a:xfrm>
            <a:prstGeom prst="rect">
              <a:avLst/>
            </a:prstGeom>
            <a:noFill/>
            <a:ln>
              <a:noFill/>
            </a:ln>
          </p:spPr>
        </p:pic>
        <p:sp>
          <p:nvSpPr>
            <p:cNvPr id="233" name="Google Shape;233;p25"/>
            <p:cNvSpPr txBox="1"/>
            <p:nvPr/>
          </p:nvSpPr>
          <p:spPr>
            <a:xfrm>
              <a:off x="4621850" y="2724150"/>
              <a:ext cx="1750200" cy="114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t>Consistent trend of increased fatalities during holiday seasons</a:t>
              </a:r>
              <a:endParaRPr/>
            </a:p>
          </p:txBody>
        </p:sp>
      </p:grpSp>
      <p:grpSp>
        <p:nvGrpSpPr>
          <p:cNvPr id="234" name="Google Shape;234;p25"/>
          <p:cNvGrpSpPr/>
          <p:nvPr/>
        </p:nvGrpSpPr>
        <p:grpSpPr>
          <a:xfrm>
            <a:off x="6817525" y="1459800"/>
            <a:ext cx="2118900" cy="2903550"/>
            <a:chOff x="6817525" y="1459800"/>
            <a:chExt cx="2118900" cy="2903550"/>
          </a:xfrm>
        </p:grpSpPr>
        <p:pic>
          <p:nvPicPr>
            <p:cNvPr id="235" name="Google Shape;235;p25"/>
            <p:cNvPicPr preferRelativeResize="0"/>
            <p:nvPr/>
          </p:nvPicPr>
          <p:blipFill>
            <a:blip r:embed="rId7">
              <a:alphaModFix/>
            </a:blip>
            <a:stretch>
              <a:fillRect/>
            </a:stretch>
          </p:blipFill>
          <p:spPr>
            <a:xfrm>
              <a:off x="7348888" y="1459800"/>
              <a:ext cx="1056175" cy="1056175"/>
            </a:xfrm>
            <a:prstGeom prst="rect">
              <a:avLst/>
            </a:prstGeom>
            <a:noFill/>
            <a:ln>
              <a:noFill/>
            </a:ln>
          </p:spPr>
        </p:pic>
        <p:sp>
          <p:nvSpPr>
            <p:cNvPr id="236" name="Google Shape;236;p25"/>
            <p:cNvSpPr txBox="1"/>
            <p:nvPr/>
          </p:nvSpPr>
          <p:spPr>
            <a:xfrm>
              <a:off x="6817525" y="2724150"/>
              <a:ext cx="2118900" cy="1639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t>Other factors contributed to crash severity, such as:</a:t>
              </a:r>
              <a:endParaRPr/>
            </a:p>
            <a:p>
              <a:pPr indent="-317500" lvl="0" marL="457200" rtl="0" algn="l">
                <a:lnSpc>
                  <a:spcPct val="115000"/>
                </a:lnSpc>
                <a:spcBef>
                  <a:spcPts val="0"/>
                </a:spcBef>
                <a:spcAft>
                  <a:spcPts val="0"/>
                </a:spcAft>
                <a:buSzPts val="1400"/>
                <a:buChar char="●"/>
              </a:pPr>
              <a:r>
                <a:rPr lang="en"/>
                <a:t>street lighting</a:t>
              </a:r>
              <a:endParaRPr/>
            </a:p>
            <a:p>
              <a:pPr indent="-317500" lvl="0" marL="457200" rtl="0" algn="l">
                <a:lnSpc>
                  <a:spcPct val="115000"/>
                </a:lnSpc>
                <a:spcBef>
                  <a:spcPts val="0"/>
                </a:spcBef>
                <a:spcAft>
                  <a:spcPts val="0"/>
                </a:spcAft>
                <a:buSzPts val="1400"/>
                <a:buChar char="●"/>
              </a:pPr>
              <a:r>
                <a:rPr lang="en"/>
                <a:t>surface condition</a:t>
              </a:r>
              <a:endParaRPr/>
            </a:p>
            <a:p>
              <a:pPr indent="-317500" lvl="0" marL="457200" rtl="0" algn="l">
                <a:lnSpc>
                  <a:spcPct val="115000"/>
                </a:lnSpc>
                <a:spcBef>
                  <a:spcPts val="0"/>
                </a:spcBef>
                <a:spcAft>
                  <a:spcPts val="0"/>
                </a:spcAft>
                <a:buSzPts val="1400"/>
                <a:buChar char="●"/>
              </a:pPr>
              <a:r>
                <a:rPr lang="en"/>
                <a:t>road alignment</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Budget Recommendations &amp; Conclusion</a:t>
            </a:r>
            <a:endParaRPr/>
          </a:p>
        </p:txBody>
      </p:sp>
      <p:grpSp>
        <p:nvGrpSpPr>
          <p:cNvPr id="242" name="Google Shape;242;p26"/>
          <p:cNvGrpSpPr/>
          <p:nvPr/>
        </p:nvGrpSpPr>
        <p:grpSpPr>
          <a:xfrm>
            <a:off x="365175" y="941600"/>
            <a:ext cx="8412300" cy="1118625"/>
            <a:chOff x="365175" y="1017800"/>
            <a:chExt cx="8412300" cy="1118625"/>
          </a:xfrm>
        </p:grpSpPr>
        <p:pic>
          <p:nvPicPr>
            <p:cNvPr id="243" name="Google Shape;243;p26"/>
            <p:cNvPicPr preferRelativeResize="0"/>
            <p:nvPr/>
          </p:nvPicPr>
          <p:blipFill>
            <a:blip r:embed="rId3">
              <a:alphaModFix/>
            </a:blip>
            <a:stretch>
              <a:fillRect/>
            </a:stretch>
          </p:blipFill>
          <p:spPr>
            <a:xfrm>
              <a:off x="365175" y="1207537"/>
              <a:ext cx="739175" cy="739150"/>
            </a:xfrm>
            <a:prstGeom prst="rect">
              <a:avLst/>
            </a:prstGeom>
            <a:noFill/>
            <a:ln>
              <a:noFill/>
            </a:ln>
          </p:spPr>
        </p:pic>
        <p:grpSp>
          <p:nvGrpSpPr>
            <p:cNvPr id="244" name="Google Shape;244;p26"/>
            <p:cNvGrpSpPr/>
            <p:nvPr/>
          </p:nvGrpSpPr>
          <p:grpSpPr>
            <a:xfrm>
              <a:off x="1275375" y="1017800"/>
              <a:ext cx="7502100" cy="1118625"/>
              <a:chOff x="1275375" y="1017800"/>
              <a:chExt cx="7502100" cy="1118625"/>
            </a:xfrm>
          </p:grpSpPr>
          <p:sp>
            <p:nvSpPr>
              <p:cNvPr id="245" name="Google Shape;245;p26"/>
              <p:cNvSpPr txBox="1"/>
              <p:nvPr/>
            </p:nvSpPr>
            <p:spPr>
              <a:xfrm>
                <a:off x="1275375" y="1240625"/>
                <a:ext cx="75021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S</a:t>
                </a:r>
                <a:r>
                  <a:rPr lang="en"/>
                  <a:t>uch as RBT and highway patrols especially during holiday periods as there is more traffic to deter dangerous driving behaviours, reducing likelihood of accidents occuring and improves overall road safety.</a:t>
                </a:r>
                <a:endParaRPr/>
              </a:p>
            </p:txBody>
          </p:sp>
          <p:sp>
            <p:nvSpPr>
              <p:cNvPr id="246" name="Google Shape;246;p26"/>
              <p:cNvSpPr txBox="1"/>
              <p:nvPr/>
            </p:nvSpPr>
            <p:spPr>
              <a:xfrm>
                <a:off x="1275375" y="1017800"/>
                <a:ext cx="2552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t>Increase police presence</a:t>
                </a:r>
                <a:endParaRPr b="1"/>
              </a:p>
            </p:txBody>
          </p:sp>
        </p:grpSp>
      </p:grpSp>
      <p:grpSp>
        <p:nvGrpSpPr>
          <p:cNvPr id="247" name="Google Shape;247;p26"/>
          <p:cNvGrpSpPr/>
          <p:nvPr/>
        </p:nvGrpSpPr>
        <p:grpSpPr>
          <a:xfrm>
            <a:off x="365175" y="2142292"/>
            <a:ext cx="8467200" cy="856750"/>
            <a:chOff x="365175" y="2152624"/>
            <a:chExt cx="8467200" cy="856750"/>
          </a:xfrm>
        </p:grpSpPr>
        <p:pic>
          <p:nvPicPr>
            <p:cNvPr id="248" name="Google Shape;248;p26"/>
            <p:cNvPicPr preferRelativeResize="0"/>
            <p:nvPr/>
          </p:nvPicPr>
          <p:blipFill>
            <a:blip r:embed="rId4">
              <a:alphaModFix/>
            </a:blip>
            <a:stretch>
              <a:fillRect/>
            </a:stretch>
          </p:blipFill>
          <p:spPr>
            <a:xfrm>
              <a:off x="365175" y="2211412"/>
              <a:ext cx="739175" cy="739175"/>
            </a:xfrm>
            <a:prstGeom prst="rect">
              <a:avLst/>
            </a:prstGeom>
            <a:noFill/>
            <a:ln>
              <a:noFill/>
            </a:ln>
          </p:spPr>
        </p:pic>
        <p:grpSp>
          <p:nvGrpSpPr>
            <p:cNvPr id="249" name="Google Shape;249;p26"/>
            <p:cNvGrpSpPr/>
            <p:nvPr/>
          </p:nvGrpSpPr>
          <p:grpSpPr>
            <a:xfrm>
              <a:off x="1275375" y="2152624"/>
              <a:ext cx="7557000" cy="856750"/>
              <a:chOff x="1275375" y="2165525"/>
              <a:chExt cx="7557000" cy="856750"/>
            </a:xfrm>
          </p:grpSpPr>
          <p:sp>
            <p:nvSpPr>
              <p:cNvPr id="250" name="Google Shape;250;p26"/>
              <p:cNvSpPr txBox="1"/>
              <p:nvPr/>
            </p:nvSpPr>
            <p:spPr>
              <a:xfrm>
                <a:off x="1275375" y="2165525"/>
                <a:ext cx="4000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t>Educational programs &amp; campaigns</a:t>
                </a:r>
                <a:endParaRPr b="1"/>
              </a:p>
            </p:txBody>
          </p:sp>
          <p:sp>
            <p:nvSpPr>
              <p:cNvPr id="251" name="Google Shape;251;p26"/>
              <p:cNvSpPr txBox="1"/>
              <p:nvPr/>
            </p:nvSpPr>
            <p:spPr>
              <a:xfrm>
                <a:off x="1275375" y="2374275"/>
                <a:ext cx="7557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I</a:t>
                </a:r>
                <a:r>
                  <a:rPr lang="en"/>
                  <a:t>mplement education programs in LGAs with high crash counts to increase awareness of safe driving practices</a:t>
                </a:r>
                <a:endParaRPr/>
              </a:p>
            </p:txBody>
          </p:sp>
        </p:grpSp>
      </p:grpSp>
      <p:grpSp>
        <p:nvGrpSpPr>
          <p:cNvPr id="252" name="Google Shape;252;p26"/>
          <p:cNvGrpSpPr/>
          <p:nvPr/>
        </p:nvGrpSpPr>
        <p:grpSpPr>
          <a:xfrm>
            <a:off x="365175" y="3081108"/>
            <a:ext cx="8412300" cy="739175"/>
            <a:chOff x="365175" y="3122974"/>
            <a:chExt cx="8412300" cy="739175"/>
          </a:xfrm>
        </p:grpSpPr>
        <p:pic>
          <p:nvPicPr>
            <p:cNvPr id="253" name="Google Shape;253;p26"/>
            <p:cNvPicPr preferRelativeResize="0"/>
            <p:nvPr/>
          </p:nvPicPr>
          <p:blipFill>
            <a:blip r:embed="rId5">
              <a:alphaModFix/>
            </a:blip>
            <a:stretch>
              <a:fillRect/>
            </a:stretch>
          </p:blipFill>
          <p:spPr>
            <a:xfrm>
              <a:off x="365175" y="3122974"/>
              <a:ext cx="739175" cy="739175"/>
            </a:xfrm>
            <a:prstGeom prst="rect">
              <a:avLst/>
            </a:prstGeom>
            <a:noFill/>
            <a:ln>
              <a:noFill/>
            </a:ln>
          </p:spPr>
        </p:pic>
        <p:grpSp>
          <p:nvGrpSpPr>
            <p:cNvPr id="254" name="Google Shape;254;p26"/>
            <p:cNvGrpSpPr/>
            <p:nvPr/>
          </p:nvGrpSpPr>
          <p:grpSpPr>
            <a:xfrm>
              <a:off x="1275375" y="3192581"/>
              <a:ext cx="7502100" cy="599962"/>
              <a:chOff x="1275375" y="3154425"/>
              <a:chExt cx="7502100" cy="599963"/>
            </a:xfrm>
          </p:grpSpPr>
          <p:sp>
            <p:nvSpPr>
              <p:cNvPr id="255" name="Google Shape;255;p26"/>
              <p:cNvSpPr txBox="1"/>
              <p:nvPr/>
            </p:nvSpPr>
            <p:spPr>
              <a:xfrm>
                <a:off x="1275375" y="3354188"/>
                <a:ext cx="7502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Ensure roads are in optimal condition to eliminate hazards especially on highways</a:t>
                </a:r>
                <a:endParaRPr/>
              </a:p>
            </p:txBody>
          </p:sp>
          <p:sp>
            <p:nvSpPr>
              <p:cNvPr id="256" name="Google Shape;256;p26"/>
              <p:cNvSpPr txBox="1"/>
              <p:nvPr/>
            </p:nvSpPr>
            <p:spPr>
              <a:xfrm>
                <a:off x="1275375" y="315442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t>Road </a:t>
                </a:r>
                <a:r>
                  <a:rPr b="1" lang="en"/>
                  <a:t>Maintenance</a:t>
                </a:r>
                <a:endParaRPr b="1"/>
              </a:p>
            </p:txBody>
          </p:sp>
        </p:grpSp>
      </p:grpSp>
      <p:grpSp>
        <p:nvGrpSpPr>
          <p:cNvPr id="257" name="Google Shape;257;p26"/>
          <p:cNvGrpSpPr/>
          <p:nvPr/>
        </p:nvGrpSpPr>
        <p:grpSpPr>
          <a:xfrm>
            <a:off x="365175" y="3902350"/>
            <a:ext cx="6130800" cy="914350"/>
            <a:chOff x="365175" y="3978550"/>
            <a:chExt cx="6130800" cy="914350"/>
          </a:xfrm>
        </p:grpSpPr>
        <p:pic>
          <p:nvPicPr>
            <p:cNvPr id="258" name="Google Shape;258;p26"/>
            <p:cNvPicPr preferRelativeResize="0"/>
            <p:nvPr/>
          </p:nvPicPr>
          <p:blipFill>
            <a:blip r:embed="rId6">
              <a:alphaModFix/>
            </a:blip>
            <a:stretch>
              <a:fillRect/>
            </a:stretch>
          </p:blipFill>
          <p:spPr>
            <a:xfrm>
              <a:off x="365175" y="4066137"/>
              <a:ext cx="739175" cy="739175"/>
            </a:xfrm>
            <a:prstGeom prst="rect">
              <a:avLst/>
            </a:prstGeom>
            <a:noFill/>
            <a:ln>
              <a:noFill/>
            </a:ln>
          </p:spPr>
        </p:pic>
        <p:grpSp>
          <p:nvGrpSpPr>
            <p:cNvPr id="259" name="Google Shape;259;p26"/>
            <p:cNvGrpSpPr/>
            <p:nvPr/>
          </p:nvGrpSpPr>
          <p:grpSpPr>
            <a:xfrm>
              <a:off x="1275375" y="3978550"/>
              <a:ext cx="5220600" cy="914350"/>
              <a:chOff x="1275375" y="3978550"/>
              <a:chExt cx="5220600" cy="914350"/>
            </a:xfrm>
          </p:grpSpPr>
          <p:sp>
            <p:nvSpPr>
              <p:cNvPr id="260" name="Google Shape;260;p26"/>
              <p:cNvSpPr txBox="1"/>
              <p:nvPr/>
            </p:nvSpPr>
            <p:spPr>
              <a:xfrm>
                <a:off x="1275375" y="4244900"/>
                <a:ext cx="5220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t>Improved street lighting to ensure roads are well lit, allows drivers to detect hazards early and respond promptly</a:t>
                </a:r>
                <a:endParaRPr/>
              </a:p>
            </p:txBody>
          </p:sp>
          <p:sp>
            <p:nvSpPr>
              <p:cNvPr id="261" name="Google Shape;261;p26"/>
              <p:cNvSpPr txBox="1"/>
              <p:nvPr/>
            </p:nvSpPr>
            <p:spPr>
              <a:xfrm>
                <a:off x="1275375" y="397855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t>Street Lighting</a:t>
                </a:r>
                <a:endParaRPr b="1"/>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References</a:t>
            </a:r>
            <a:endParaRPr>
              <a:latin typeface="Arial"/>
              <a:ea typeface="Arial"/>
              <a:cs typeface="Arial"/>
              <a:sym typeface="Arial"/>
            </a:endParaRPr>
          </a:p>
        </p:txBody>
      </p:sp>
      <p:sp>
        <p:nvSpPr>
          <p:cNvPr id="267" name="Google Shape;267;p2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Arial"/>
              <a:buChar char="●"/>
            </a:pPr>
            <a:r>
              <a:rPr lang="en" sz="1400">
                <a:solidFill>
                  <a:srgbClr val="000000"/>
                </a:solidFill>
                <a:latin typeface="Arial"/>
                <a:ea typeface="Arial"/>
                <a:cs typeface="Arial"/>
                <a:sym typeface="Arial"/>
              </a:rPr>
              <a:t>The Sydney Morning Herald 2023, </a:t>
            </a:r>
            <a:r>
              <a:rPr i="1" lang="en" sz="1400">
                <a:solidFill>
                  <a:srgbClr val="000000"/>
                </a:solidFill>
                <a:latin typeface="Arial"/>
                <a:ea typeface="Arial"/>
                <a:cs typeface="Arial"/>
                <a:sym typeface="Arial"/>
              </a:rPr>
              <a:t>Sydney Morning Herald website</a:t>
            </a:r>
            <a:r>
              <a:rPr lang="en" sz="1400">
                <a:solidFill>
                  <a:srgbClr val="000000"/>
                </a:solidFill>
                <a:latin typeface="Arial"/>
                <a:ea typeface="Arial"/>
                <a:cs typeface="Arial"/>
                <a:sym typeface="Arial"/>
              </a:rPr>
              <a:t>, accessed </a:t>
            </a:r>
            <a:r>
              <a:rPr i="1" lang="en" sz="1400">
                <a:solidFill>
                  <a:srgbClr val="000000"/>
                </a:solidFill>
                <a:latin typeface="Arial"/>
                <a:ea typeface="Arial"/>
                <a:cs typeface="Arial"/>
                <a:sym typeface="Arial"/>
              </a:rPr>
              <a:t> </a:t>
            </a:r>
            <a:r>
              <a:rPr lang="en" sz="1400">
                <a:solidFill>
                  <a:srgbClr val="000000"/>
                </a:solidFill>
                <a:latin typeface="Arial"/>
                <a:ea typeface="Arial"/>
                <a:cs typeface="Arial"/>
                <a:sym typeface="Arial"/>
              </a:rPr>
              <a:t>24 October 2023, &lt;</a:t>
            </a:r>
            <a:r>
              <a:rPr lang="en" sz="1400" u="sng">
                <a:solidFill>
                  <a:srgbClr val="1155CC"/>
                </a:solidFill>
                <a:latin typeface="Arial"/>
                <a:ea typeface="Arial"/>
                <a:cs typeface="Arial"/>
                <a:sym typeface="Arial"/>
                <a:hlinkClick r:id="rId3">
                  <a:extLst>
                    <a:ext uri="{A12FA001-AC4F-418D-AE19-62706E023703}">
                      <ahyp:hlinkClr val="tx"/>
                    </a:ext>
                  </a:extLst>
                </a:hlinkClick>
              </a:rPr>
              <a:t>https://www.smh.com.au/politics/federal/road-deaths-rise-as-every-state-except-nsw-misses-reduction-target-20230512-p5d828.html/</a:t>
            </a:r>
            <a:r>
              <a:rPr lang="en" sz="1400">
                <a:solidFill>
                  <a:srgbClr val="000000"/>
                </a:solidFill>
                <a:latin typeface="Arial"/>
                <a:ea typeface="Arial"/>
                <a:cs typeface="Arial"/>
                <a:sym typeface="Arial"/>
              </a:rPr>
              <a:t>&gt;. </a:t>
            </a:r>
            <a:endParaRPr sz="14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